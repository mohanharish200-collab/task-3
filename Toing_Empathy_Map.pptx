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1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6" d="100"/>
          <a:sy n="66" d="100"/>
        </p:scale>
        <p:origin x="1224" y="3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71682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builds an empathy map for a typical user of a food delivery app, using the Toing app as the example. We'll cover the persona, the four quadrants (says, thinks, does, feels), pains and gains, then needs, frustrations, expectations and what Toing can do about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empathy map is a lightweight research tool. Four quadrants describe the user's outer and inner world; pains and gains capture what blocks them and what success looks like. We'll fill in each for one representative Toing user.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Riya is a composite persona, a hypothesis to test rather than a real individual. She represents the frequent, time-pressed food delivery user Toing is most likely to compete for.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map. Says and Does are observable; Thinks and Feels are inferred from interviews and behaviour. The gap between what Riya says and what she feels is often where the best design opportunities hide.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Pains are the obstacles and risks Riya perceives; gains are the outcomes she wants. Notice how many pains are about broken promises: price, ETA and order accuracy.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core needs emerge from the map. They cluster around one theme: certainty. Riya wants to know what she'll pay, when it arrives and what happens if it goes wrong.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stages left to right. The mood changes from curious to helpless as small problems compound. The biggest emotional drops happen where Toing's promise, whether price, ETA or order, meets a different reality.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Kano-style view of expectations. Must-haves are table stakes, expected features keep Toing competitive, and delighters are where Toing can differentiate.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frustration maps to a design opportunity and a concrete feature idea. These are hypotheses to prototype and test, not commitments.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core insight: certainty beats novelty. The empathy map is a living document, so validate it with real users and update it as Toing evolves.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3.png"/><Relationship Id="rId7"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3D"/>
        </a:solidFill>
        <a:effectLst/>
      </p:bgPr>
    </p:bg>
    <p:spTree>
      <p:nvGrpSpPr>
        <p:cNvPr id="1" name=""/>
        <p:cNvGrpSpPr/>
        <p:nvPr/>
      </p:nvGrpSpPr>
      <p:grpSpPr>
        <a:xfrm>
          <a:off x="0" y="0"/>
          <a:ext cx="0" cy="0"/>
          <a:chOff x="0" y="0"/>
          <a:chExt cx="0" cy="0"/>
        </a:xfrm>
      </p:grpSpPr>
      <p:sp>
        <p:nvSpPr>
          <p:cNvPr id="2" name="Text 0"/>
          <p:cNvSpPr txBox="1"/>
          <p:nvPr/>
        </p:nvSpPr>
        <p:spPr>
          <a:xfrm>
            <a:off x="731520" y="1188720"/>
            <a:ext cx="5943600" cy="365760"/>
          </a:xfrm>
          <a:prstGeom prst="rect">
            <a:avLst/>
          </a:prstGeom>
          <a:noFill/>
          <a:ln/>
        </p:spPr>
        <p:txBody>
          <a:bodyPr wrap="square" lIns="0" tIns="0" rIns="0" bIns="0" rtlCol="0" anchor="ctr"/>
          <a:lstStyle/>
          <a:p>
            <a:pPr marL="0" indent="0">
              <a:buNone/>
            </a:pPr>
            <a:r>
              <a:rPr lang="en-US" sz="1300" b="1" kern="0" spc="400" dirty="0">
                <a:solidFill>
                  <a:srgbClr val="FF8A6B"/>
                </a:solidFill>
                <a:latin typeface="Calibri" pitchFamily="34" charset="0"/>
                <a:ea typeface="Calibri" pitchFamily="34" charset="-122"/>
                <a:cs typeface="Calibri" pitchFamily="34" charset="-120"/>
              </a:rPr>
              <a:t>USER RESEARCH  ·  UX CASE STUDY</a:t>
            </a:r>
            <a:endParaRPr lang="en-US" sz="1300" dirty="0"/>
          </a:p>
        </p:txBody>
      </p:sp>
      <p:sp>
        <p:nvSpPr>
          <p:cNvPr id="3" name="Text 1"/>
          <p:cNvSpPr txBox="1"/>
          <p:nvPr/>
        </p:nvSpPr>
        <p:spPr>
          <a:xfrm>
            <a:off x="731520" y="1691640"/>
            <a:ext cx="6217920" cy="1097280"/>
          </a:xfrm>
          <a:prstGeom prst="rect">
            <a:avLst/>
          </a:prstGeom>
          <a:noFill/>
          <a:ln/>
        </p:spPr>
        <p:txBody>
          <a:bodyPr wrap="square" lIns="0" tIns="0" rIns="0" bIns="0" rtlCol="0" anchor="ctr"/>
          <a:lstStyle/>
          <a:p>
            <a:pPr marL="0" indent="0">
              <a:buNone/>
            </a:pPr>
            <a:r>
              <a:rPr lang="en-US" sz="6200" b="1" dirty="0">
                <a:solidFill>
                  <a:srgbClr val="FFFFFF"/>
                </a:solidFill>
                <a:latin typeface="Cambria" pitchFamily="34" charset="0"/>
                <a:ea typeface="Cambria" pitchFamily="34" charset="-122"/>
                <a:cs typeface="Cambria" pitchFamily="34" charset="-120"/>
              </a:rPr>
              <a:t>Empathy Map</a:t>
            </a:r>
            <a:endParaRPr lang="en-US" sz="6200" dirty="0"/>
          </a:p>
        </p:txBody>
      </p:sp>
      <p:sp>
        <p:nvSpPr>
          <p:cNvPr id="4" name="Text 2"/>
          <p:cNvSpPr txBox="1"/>
          <p:nvPr/>
        </p:nvSpPr>
        <p:spPr>
          <a:xfrm>
            <a:off x="731520" y="2788920"/>
            <a:ext cx="6217920" cy="640080"/>
          </a:xfrm>
          <a:prstGeom prst="rect">
            <a:avLst/>
          </a:prstGeom>
          <a:noFill/>
          <a:ln/>
        </p:spPr>
        <p:txBody>
          <a:bodyPr wrap="square" lIns="0" tIns="0" rIns="0" bIns="0" rtlCol="0" anchor="ctr"/>
          <a:lstStyle/>
          <a:p>
            <a:pPr marL="0" indent="0">
              <a:buNone/>
            </a:pPr>
            <a:r>
              <a:rPr lang="en-US" sz="3200" dirty="0">
                <a:solidFill>
                  <a:srgbClr val="D9CFEA"/>
                </a:solidFill>
                <a:latin typeface="Cambria" pitchFamily="34" charset="0"/>
                <a:ea typeface="Cambria" pitchFamily="34" charset="-122"/>
                <a:cs typeface="Cambria" pitchFamily="34" charset="-120"/>
              </a:rPr>
              <a:t>Food Delivery App User</a:t>
            </a:r>
            <a:endParaRPr lang="en-US" sz="3200" dirty="0"/>
          </a:p>
        </p:txBody>
      </p:sp>
      <p:sp>
        <p:nvSpPr>
          <p:cNvPr id="5" name="Text 3"/>
          <p:cNvSpPr txBox="1"/>
          <p:nvPr/>
        </p:nvSpPr>
        <p:spPr>
          <a:xfrm>
            <a:off x="731520" y="3931920"/>
            <a:ext cx="5943600" cy="822960"/>
          </a:xfrm>
          <a:prstGeom prst="rect">
            <a:avLst/>
          </a:prstGeom>
          <a:noFill/>
          <a:ln/>
        </p:spPr>
        <p:txBody>
          <a:bodyPr wrap="square" lIns="0" tIns="0" rIns="0" bIns="0" rtlCol="0" anchor="ctr"/>
          <a:lstStyle/>
          <a:p>
            <a:pPr marL="0" indent="0">
              <a:spcAft>
                <a:spcPts val="400"/>
              </a:spcAft>
              <a:buNone/>
            </a:pPr>
            <a:r>
              <a:rPr lang="en-US" sz="1800" b="1" dirty="0">
                <a:solidFill>
                  <a:srgbClr val="FFFFFF"/>
                </a:solidFill>
                <a:latin typeface="Calibri" pitchFamily="34" charset="0"/>
                <a:ea typeface="Calibri" pitchFamily="34" charset="-122"/>
                <a:cs typeface="Calibri" pitchFamily="34" charset="-120"/>
              </a:rPr>
              <a:t>A Toing app case study</a:t>
            </a:r>
            <a:endParaRPr lang="en-US" sz="1800" dirty="0"/>
          </a:p>
          <a:p>
            <a:pPr marL="0" indent="0">
              <a:spcAft>
                <a:spcPts val="400"/>
              </a:spcAft>
              <a:buNone/>
            </a:pPr>
            <a:r>
              <a:rPr lang="en-US" sz="1800" dirty="0">
                <a:solidFill>
                  <a:srgbClr val="D9CFEA"/>
                </a:solidFill>
                <a:latin typeface="Calibri" pitchFamily="34" charset="0"/>
                <a:ea typeface="Calibri" pitchFamily="34" charset="-122"/>
                <a:cs typeface="Calibri" pitchFamily="34" charset="-120"/>
              </a:rPr>
              <a:t>User needs, frustrations and expectations</a:t>
            </a:r>
            <a:endParaRPr lang="en-US" sz="1800" dirty="0"/>
          </a:p>
        </p:txBody>
      </p:sp>
      <p:sp>
        <p:nvSpPr>
          <p:cNvPr id="6" name="Shape 4"/>
          <p:cNvSpPr/>
          <p:nvPr/>
        </p:nvSpPr>
        <p:spPr>
          <a:xfrm>
            <a:off x="7498080" y="1097280"/>
            <a:ext cx="4206240" cy="4206240"/>
          </a:xfrm>
          <a:prstGeom prst="ellipse">
            <a:avLst/>
          </a:prstGeom>
          <a:solidFill>
            <a:srgbClr val="E23B1F"/>
          </a:solidFill>
          <a:ln w="6350">
            <a:solidFill>
              <a:srgbClr val="E23B1F"/>
            </a:solidFill>
            <a:prstDash val="solid"/>
          </a:ln>
        </p:spPr>
      </p:sp>
      <p:pic>
        <p:nvPicPr>
          <p:cNvPr id="7" name="Image 0" descr="preencoded.png"/>
          <p:cNvPicPr>
            <a:picLocks noChangeAspect="1"/>
          </p:cNvPicPr>
          <p:nvPr/>
        </p:nvPicPr>
        <p:blipFill>
          <a:blip r:embed="rId3"/>
          <a:stretch>
            <a:fillRect/>
          </a:stretch>
        </p:blipFill>
        <p:spPr>
          <a:xfrm>
            <a:off x="8686800" y="2286000"/>
            <a:ext cx="1828800" cy="1828800"/>
          </a:xfrm>
          <a:prstGeom prst="rect">
            <a:avLst/>
          </a:prstGeom>
        </p:spPr>
      </p:pic>
      <p:sp>
        <p:nvSpPr>
          <p:cNvPr id="8" name="Shape 5"/>
          <p:cNvSpPr/>
          <p:nvPr/>
        </p:nvSpPr>
        <p:spPr>
          <a:xfrm>
            <a:off x="6675120" y="4343400"/>
            <a:ext cx="1737360" cy="1737360"/>
          </a:xfrm>
          <a:prstGeom prst="ellipse">
            <a:avLst/>
          </a:prstGeom>
          <a:solidFill>
            <a:srgbClr val="3B2754"/>
          </a:solidFill>
          <a:ln w="38100">
            <a:solidFill>
              <a:srgbClr val="2A1A3D"/>
            </a:solidFill>
            <a:prstDash val="solid"/>
          </a:ln>
        </p:spPr>
      </p:sp>
      <p:pic>
        <p:nvPicPr>
          <p:cNvPr id="9" name="Image 1" descr="preencoded.png"/>
          <p:cNvPicPr>
            <a:picLocks noChangeAspect="1"/>
          </p:cNvPicPr>
          <p:nvPr/>
        </p:nvPicPr>
        <p:blipFill>
          <a:blip r:embed="rId4"/>
          <a:stretch>
            <a:fillRect/>
          </a:stretch>
        </p:blipFill>
        <p:spPr>
          <a:xfrm>
            <a:off x="7269480" y="4937760"/>
            <a:ext cx="548640" cy="548640"/>
          </a:xfrm>
          <a:prstGeom prst="rect">
            <a:avLst/>
          </a:prstGeom>
        </p:spPr>
      </p:pic>
      <p:sp>
        <p:nvSpPr>
          <p:cNvPr id="10" name="Shape 6"/>
          <p:cNvSpPr/>
          <p:nvPr/>
        </p:nvSpPr>
        <p:spPr>
          <a:xfrm>
            <a:off x="10744200" y="4663440"/>
            <a:ext cx="1051560" cy="1051560"/>
          </a:xfrm>
          <a:prstGeom prst="ellipse">
            <a:avLst/>
          </a:prstGeom>
          <a:solidFill>
            <a:srgbClr val="0B8F6D"/>
          </a:solidFill>
          <a:ln w="38100">
            <a:solidFill>
              <a:srgbClr val="2A1A3D"/>
            </a:solidFill>
            <a:prstDash val="solid"/>
          </a:ln>
        </p:spPr>
      </p:sp>
      <p:pic>
        <p:nvPicPr>
          <p:cNvPr id="11" name="Image 2" descr="preencoded.png"/>
          <p:cNvPicPr>
            <a:picLocks noChangeAspect="1"/>
          </p:cNvPicPr>
          <p:nvPr/>
        </p:nvPicPr>
        <p:blipFill>
          <a:blip r:embed="rId5"/>
          <a:stretch>
            <a:fillRect/>
          </a:stretch>
        </p:blipFill>
        <p:spPr>
          <a:xfrm>
            <a:off x="11064240" y="4983480"/>
            <a:ext cx="411480" cy="411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5897" y="365760"/>
            <a:ext cx="11094415" cy="731520"/>
          </a:xfrm>
          <a:prstGeom prst="rect">
            <a:avLst/>
          </a:prstGeom>
          <a:noFill/>
          <a:ln/>
        </p:spPr>
        <p:txBody>
          <a:bodyPr wrap="square" lIns="0" tIns="0" rIns="0" bIns="0" rtlCol="0" anchor="ctr"/>
          <a:lstStyle/>
          <a:p>
            <a:pPr marL="0" indent="0">
              <a:buNone/>
            </a:pPr>
            <a:r>
              <a:rPr lang="en-US" sz="3400" b="1" u="sng" dirty="0">
                <a:solidFill>
                  <a:srgbClr val="2A1A3D"/>
                </a:solidFill>
                <a:latin typeface="Cambria" pitchFamily="34" charset="0"/>
                <a:ea typeface="Cambria" pitchFamily="34" charset="-122"/>
                <a:cs typeface="Cambria" pitchFamily="34" charset="-120"/>
              </a:rPr>
              <a:t>Empathy maps put us in the user's shoes</a:t>
            </a:r>
            <a:endParaRPr lang="en-US" sz="3400" u="sng" dirty="0"/>
          </a:p>
        </p:txBody>
      </p:sp>
      <p:sp>
        <p:nvSpPr>
          <p:cNvPr id="3" name="Text 1"/>
          <p:cNvSpPr txBox="1"/>
          <p:nvPr/>
        </p:nvSpPr>
        <p:spPr>
          <a:xfrm>
            <a:off x="548640" y="1463040"/>
            <a:ext cx="4754880" cy="1371600"/>
          </a:xfrm>
          <a:prstGeom prst="rect">
            <a:avLst/>
          </a:prstGeom>
          <a:noFill/>
          <a:ln/>
        </p:spPr>
        <p:txBody>
          <a:bodyPr wrap="square" lIns="0" tIns="0" rIns="0" bIns="0" rtlCol="0" anchor="t"/>
          <a:lstStyle/>
          <a:p>
            <a:pPr marL="0" indent="0">
              <a:buNone/>
            </a:pPr>
            <a:r>
              <a:rPr lang="en-US" sz="2000" dirty="0">
                <a:solidFill>
                  <a:srgbClr val="2A1A3D"/>
                </a:solidFill>
                <a:latin typeface="Calibri" pitchFamily="34" charset="0"/>
                <a:ea typeface="Calibri" pitchFamily="34" charset="-122"/>
                <a:cs typeface="Calibri" pitchFamily="34" charset="-120"/>
              </a:rPr>
              <a:t>A one-page canvas that captures what a user says, thinks, does and feels, plus their pains and gains.</a:t>
            </a:r>
            <a:endParaRPr lang="en-US" sz="2000" dirty="0"/>
          </a:p>
        </p:txBody>
      </p:sp>
      <p:sp>
        <p:nvSpPr>
          <p:cNvPr id="4" name="Shape 2"/>
          <p:cNvSpPr/>
          <p:nvPr/>
        </p:nvSpPr>
        <p:spPr>
          <a:xfrm>
            <a:off x="548640" y="3291840"/>
            <a:ext cx="457200" cy="457200"/>
          </a:xfrm>
          <a:prstGeom prst="ellipse">
            <a:avLst/>
          </a:prstGeom>
          <a:solidFill>
            <a:srgbClr val="F4F1F9"/>
          </a:solidFill>
          <a:ln w="6350">
            <a:solidFill>
              <a:srgbClr val="F4F1F9"/>
            </a:solidFill>
            <a:prstDash val="solid"/>
          </a:ln>
        </p:spPr>
      </p:sp>
      <p:pic>
        <p:nvPicPr>
          <p:cNvPr id="5" name="Image 0" descr="preencoded.png"/>
          <p:cNvPicPr>
            <a:picLocks noChangeAspect="1"/>
          </p:cNvPicPr>
          <p:nvPr/>
        </p:nvPicPr>
        <p:blipFill>
          <a:blip r:embed="rId3"/>
          <a:stretch>
            <a:fillRect/>
          </a:stretch>
        </p:blipFill>
        <p:spPr>
          <a:xfrm>
            <a:off x="676656" y="3419856"/>
            <a:ext cx="201168" cy="201168"/>
          </a:xfrm>
          <a:prstGeom prst="rect">
            <a:avLst/>
          </a:prstGeom>
        </p:spPr>
      </p:pic>
      <p:sp>
        <p:nvSpPr>
          <p:cNvPr id="6" name="Text 3"/>
          <p:cNvSpPr txBox="1"/>
          <p:nvPr/>
        </p:nvSpPr>
        <p:spPr>
          <a:xfrm>
            <a:off x="1234440" y="3291840"/>
            <a:ext cx="4114800" cy="457200"/>
          </a:xfrm>
          <a:prstGeom prst="rect">
            <a:avLst/>
          </a:prstGeom>
          <a:noFill/>
          <a:ln/>
        </p:spPr>
        <p:txBody>
          <a:bodyPr wrap="square" lIns="0" tIns="0" rIns="0" bIns="0" rtlCol="0" anchor="ctr"/>
          <a:lstStyle/>
          <a:p>
            <a:pPr marL="0" indent="0">
              <a:buNone/>
            </a:pPr>
            <a:r>
              <a:rPr lang="en-US" sz="1600" dirty="0">
                <a:solidFill>
                  <a:srgbClr val="2A1A3D"/>
                </a:solidFill>
                <a:latin typeface="Calibri" pitchFamily="34" charset="0"/>
                <a:ea typeface="Calibri" pitchFamily="34" charset="-122"/>
                <a:cs typeface="Calibri" pitchFamily="34" charset="-120"/>
              </a:rPr>
              <a:t>Build one shared picture of a Toing user</a:t>
            </a:r>
            <a:endParaRPr lang="en-US" sz="1600" dirty="0"/>
          </a:p>
        </p:txBody>
      </p:sp>
      <p:sp>
        <p:nvSpPr>
          <p:cNvPr id="7" name="Shape 4"/>
          <p:cNvSpPr/>
          <p:nvPr/>
        </p:nvSpPr>
        <p:spPr>
          <a:xfrm>
            <a:off x="548640" y="4160520"/>
            <a:ext cx="457200" cy="457200"/>
          </a:xfrm>
          <a:prstGeom prst="ellipse">
            <a:avLst/>
          </a:prstGeom>
          <a:solidFill>
            <a:srgbClr val="F4F1F9"/>
          </a:solidFill>
          <a:ln w="6350">
            <a:solidFill>
              <a:srgbClr val="F4F1F9"/>
            </a:solidFill>
            <a:prstDash val="solid"/>
          </a:ln>
        </p:spPr>
      </p:sp>
      <p:pic>
        <p:nvPicPr>
          <p:cNvPr id="8" name="Image 1" descr="preencoded.png"/>
          <p:cNvPicPr>
            <a:picLocks noChangeAspect="1"/>
          </p:cNvPicPr>
          <p:nvPr/>
        </p:nvPicPr>
        <p:blipFill>
          <a:blip r:embed="rId3"/>
          <a:stretch>
            <a:fillRect/>
          </a:stretch>
        </p:blipFill>
        <p:spPr>
          <a:xfrm>
            <a:off x="676656" y="4288536"/>
            <a:ext cx="201168" cy="201168"/>
          </a:xfrm>
          <a:prstGeom prst="rect">
            <a:avLst/>
          </a:prstGeom>
        </p:spPr>
      </p:pic>
      <p:sp>
        <p:nvSpPr>
          <p:cNvPr id="9" name="Text 5"/>
          <p:cNvSpPr txBox="1"/>
          <p:nvPr/>
        </p:nvSpPr>
        <p:spPr>
          <a:xfrm>
            <a:off x="1234440" y="4160520"/>
            <a:ext cx="4114800" cy="457200"/>
          </a:xfrm>
          <a:prstGeom prst="rect">
            <a:avLst/>
          </a:prstGeom>
          <a:noFill/>
          <a:ln/>
        </p:spPr>
        <p:txBody>
          <a:bodyPr wrap="square" lIns="0" tIns="0" rIns="0" bIns="0" rtlCol="0" anchor="ctr"/>
          <a:lstStyle/>
          <a:p>
            <a:pPr marL="0" indent="0">
              <a:buNone/>
            </a:pPr>
            <a:r>
              <a:rPr lang="en-US" sz="1600" dirty="0">
                <a:solidFill>
                  <a:srgbClr val="2A1A3D"/>
                </a:solidFill>
                <a:latin typeface="Calibri" pitchFamily="34" charset="0"/>
                <a:ea typeface="Calibri" pitchFamily="34" charset="-122"/>
                <a:cs typeface="Calibri" pitchFamily="34" charset="-120"/>
              </a:rPr>
              <a:t>Surface needs, frustrations and expectations</a:t>
            </a:r>
            <a:endParaRPr lang="en-US" sz="1600" dirty="0"/>
          </a:p>
        </p:txBody>
      </p:sp>
      <p:sp>
        <p:nvSpPr>
          <p:cNvPr id="10" name="Shape 6"/>
          <p:cNvSpPr/>
          <p:nvPr/>
        </p:nvSpPr>
        <p:spPr>
          <a:xfrm>
            <a:off x="548640" y="5029200"/>
            <a:ext cx="457200" cy="457200"/>
          </a:xfrm>
          <a:prstGeom prst="ellipse">
            <a:avLst/>
          </a:prstGeom>
          <a:solidFill>
            <a:srgbClr val="F4F1F9"/>
          </a:solidFill>
          <a:ln w="6350">
            <a:solidFill>
              <a:srgbClr val="F4F1F9"/>
            </a:solidFill>
            <a:prstDash val="solid"/>
          </a:ln>
        </p:spPr>
      </p:sp>
      <p:pic>
        <p:nvPicPr>
          <p:cNvPr id="11" name="Image 2" descr="preencoded.png"/>
          <p:cNvPicPr>
            <a:picLocks noChangeAspect="1"/>
          </p:cNvPicPr>
          <p:nvPr/>
        </p:nvPicPr>
        <p:blipFill>
          <a:blip r:embed="rId3"/>
          <a:stretch>
            <a:fillRect/>
          </a:stretch>
        </p:blipFill>
        <p:spPr>
          <a:xfrm>
            <a:off x="676656" y="5157216"/>
            <a:ext cx="201168" cy="201168"/>
          </a:xfrm>
          <a:prstGeom prst="rect">
            <a:avLst/>
          </a:prstGeom>
        </p:spPr>
      </p:pic>
      <p:sp>
        <p:nvSpPr>
          <p:cNvPr id="12" name="Text 7"/>
          <p:cNvSpPr txBox="1"/>
          <p:nvPr/>
        </p:nvSpPr>
        <p:spPr>
          <a:xfrm>
            <a:off x="1234440" y="5029200"/>
            <a:ext cx="4114800" cy="457200"/>
          </a:xfrm>
          <a:prstGeom prst="rect">
            <a:avLst/>
          </a:prstGeom>
          <a:noFill/>
          <a:ln/>
        </p:spPr>
        <p:txBody>
          <a:bodyPr wrap="square" lIns="0" tIns="0" rIns="0" bIns="0" rtlCol="0" anchor="ctr"/>
          <a:lstStyle/>
          <a:p>
            <a:pPr marL="0" indent="0">
              <a:buNone/>
            </a:pPr>
            <a:r>
              <a:rPr lang="en-US" sz="1600" dirty="0">
                <a:solidFill>
                  <a:srgbClr val="2A1A3D"/>
                </a:solidFill>
                <a:latin typeface="Calibri" pitchFamily="34" charset="0"/>
                <a:ea typeface="Calibri" pitchFamily="34" charset="-122"/>
                <a:cs typeface="Calibri" pitchFamily="34" charset="-120"/>
              </a:rPr>
              <a:t>Turn insights into design decisions</a:t>
            </a:r>
            <a:endParaRPr lang="en-US" sz="1600" dirty="0"/>
          </a:p>
        </p:txBody>
      </p:sp>
      <p:sp>
        <p:nvSpPr>
          <p:cNvPr id="13" name="Shape 8"/>
          <p:cNvSpPr/>
          <p:nvPr/>
        </p:nvSpPr>
        <p:spPr>
          <a:xfrm>
            <a:off x="5742432" y="1463040"/>
            <a:ext cx="2834640" cy="1463040"/>
          </a:xfrm>
          <a:prstGeom prst="roundRect">
            <a:avLst>
              <a:gd name="adj" fmla="val 7500"/>
            </a:avLst>
          </a:prstGeom>
          <a:solidFill>
            <a:srgbClr val="F4F1F9"/>
          </a:solidFill>
          <a:ln w="6350">
            <a:solidFill>
              <a:srgbClr val="F4F1F9"/>
            </a:solidFill>
            <a:prstDash val="solid"/>
          </a:ln>
        </p:spPr>
      </p:sp>
      <p:sp>
        <p:nvSpPr>
          <p:cNvPr id="14" name="Shape 9"/>
          <p:cNvSpPr/>
          <p:nvPr/>
        </p:nvSpPr>
        <p:spPr>
          <a:xfrm>
            <a:off x="5971032" y="1645920"/>
            <a:ext cx="548640" cy="548640"/>
          </a:xfrm>
          <a:prstGeom prst="ellipse">
            <a:avLst/>
          </a:prstGeom>
          <a:solidFill>
            <a:srgbClr val="2A1A3D"/>
          </a:solidFill>
          <a:ln w="6350">
            <a:solidFill>
              <a:srgbClr val="2A1A3D"/>
            </a:solidFill>
            <a:prstDash val="solid"/>
          </a:ln>
        </p:spPr>
      </p:sp>
      <p:pic>
        <p:nvPicPr>
          <p:cNvPr id="15" name="Image 3" descr="preencoded.png"/>
          <p:cNvPicPr>
            <a:picLocks noChangeAspect="1"/>
          </p:cNvPicPr>
          <p:nvPr/>
        </p:nvPicPr>
        <p:blipFill>
          <a:blip r:embed="rId4"/>
          <a:stretch>
            <a:fillRect/>
          </a:stretch>
        </p:blipFill>
        <p:spPr>
          <a:xfrm>
            <a:off x="6108192" y="1783080"/>
            <a:ext cx="274320" cy="274320"/>
          </a:xfrm>
          <a:prstGeom prst="rect">
            <a:avLst/>
          </a:prstGeom>
        </p:spPr>
      </p:pic>
      <p:sp>
        <p:nvSpPr>
          <p:cNvPr id="16" name="Text 10"/>
          <p:cNvSpPr txBox="1"/>
          <p:nvPr/>
        </p:nvSpPr>
        <p:spPr>
          <a:xfrm>
            <a:off x="6656832" y="1645920"/>
            <a:ext cx="1737360" cy="548640"/>
          </a:xfrm>
          <a:prstGeom prst="rect">
            <a:avLst/>
          </a:prstGeom>
          <a:noFill/>
          <a:ln/>
        </p:spPr>
        <p:txBody>
          <a:bodyPr wrap="square" lIns="0" tIns="0" rIns="0" bIns="0" rtlCol="0" anchor="ctr"/>
          <a:lstStyle/>
          <a:p>
            <a:pPr marL="0" indent="0">
              <a:buNone/>
            </a:pPr>
            <a:r>
              <a:rPr lang="en-US" sz="2000" b="1" dirty="0">
                <a:solidFill>
                  <a:srgbClr val="2A1A3D"/>
                </a:solidFill>
                <a:latin typeface="Cambria" pitchFamily="34" charset="0"/>
                <a:ea typeface="Cambria" pitchFamily="34" charset="-122"/>
                <a:cs typeface="Cambria" pitchFamily="34" charset="-120"/>
              </a:rPr>
              <a:t>Says</a:t>
            </a:r>
            <a:endParaRPr lang="en-US" sz="2000" dirty="0"/>
          </a:p>
        </p:txBody>
      </p:sp>
      <p:sp>
        <p:nvSpPr>
          <p:cNvPr id="17" name="Text 11"/>
          <p:cNvSpPr txBox="1"/>
          <p:nvPr/>
        </p:nvSpPr>
        <p:spPr>
          <a:xfrm>
            <a:off x="5971032" y="2331720"/>
            <a:ext cx="2423160" cy="502920"/>
          </a:xfrm>
          <a:prstGeom prst="rect">
            <a:avLst/>
          </a:prstGeom>
          <a:noFill/>
          <a:ln/>
        </p:spPr>
        <p:txBody>
          <a:bodyPr wrap="square" lIns="0" tIns="0" rIns="0" bIns="0" rtlCol="0" anchor="t"/>
          <a:lstStyle/>
          <a:p>
            <a:pPr marL="0" indent="0">
              <a:buNone/>
            </a:pPr>
            <a:r>
              <a:rPr lang="en-US" sz="1300" dirty="0">
                <a:solidFill>
                  <a:srgbClr val="5F5773"/>
                </a:solidFill>
                <a:latin typeface="Calibri" pitchFamily="34" charset="0"/>
                <a:ea typeface="Calibri" pitchFamily="34" charset="-122"/>
                <a:cs typeface="Calibri" pitchFamily="34" charset="-120"/>
              </a:rPr>
              <a:t>Quotes and words the user speaks out loud</a:t>
            </a:r>
            <a:endParaRPr lang="en-US" sz="1300" dirty="0"/>
          </a:p>
        </p:txBody>
      </p:sp>
      <p:sp>
        <p:nvSpPr>
          <p:cNvPr id="18" name="Shape 12"/>
          <p:cNvSpPr/>
          <p:nvPr/>
        </p:nvSpPr>
        <p:spPr>
          <a:xfrm>
            <a:off x="8805672" y="1463040"/>
            <a:ext cx="2834640" cy="1463040"/>
          </a:xfrm>
          <a:prstGeom prst="roundRect">
            <a:avLst>
              <a:gd name="adj" fmla="val 7500"/>
            </a:avLst>
          </a:prstGeom>
          <a:solidFill>
            <a:srgbClr val="F4F1F9"/>
          </a:solidFill>
          <a:ln w="6350">
            <a:solidFill>
              <a:srgbClr val="F4F1F9"/>
            </a:solidFill>
            <a:prstDash val="solid"/>
          </a:ln>
        </p:spPr>
      </p:sp>
      <p:sp>
        <p:nvSpPr>
          <p:cNvPr id="19" name="Shape 13"/>
          <p:cNvSpPr/>
          <p:nvPr/>
        </p:nvSpPr>
        <p:spPr>
          <a:xfrm>
            <a:off x="9034272" y="1645920"/>
            <a:ext cx="548640" cy="548640"/>
          </a:xfrm>
          <a:prstGeom prst="ellipse">
            <a:avLst/>
          </a:prstGeom>
          <a:solidFill>
            <a:srgbClr val="2A1A3D"/>
          </a:solidFill>
          <a:ln w="6350">
            <a:solidFill>
              <a:srgbClr val="2A1A3D"/>
            </a:solidFill>
            <a:prstDash val="solid"/>
          </a:ln>
        </p:spPr>
      </p:sp>
      <p:pic>
        <p:nvPicPr>
          <p:cNvPr id="20" name="Image 4" descr="preencoded.png"/>
          <p:cNvPicPr>
            <a:picLocks noChangeAspect="1"/>
          </p:cNvPicPr>
          <p:nvPr/>
        </p:nvPicPr>
        <p:blipFill>
          <a:blip r:embed="rId5"/>
          <a:stretch>
            <a:fillRect/>
          </a:stretch>
        </p:blipFill>
        <p:spPr>
          <a:xfrm>
            <a:off x="9171432" y="1783080"/>
            <a:ext cx="274320" cy="274320"/>
          </a:xfrm>
          <a:prstGeom prst="rect">
            <a:avLst/>
          </a:prstGeom>
        </p:spPr>
      </p:pic>
      <p:sp>
        <p:nvSpPr>
          <p:cNvPr id="21" name="Text 14"/>
          <p:cNvSpPr txBox="1"/>
          <p:nvPr/>
        </p:nvSpPr>
        <p:spPr>
          <a:xfrm>
            <a:off x="9720072" y="1645920"/>
            <a:ext cx="1737360" cy="548640"/>
          </a:xfrm>
          <a:prstGeom prst="rect">
            <a:avLst/>
          </a:prstGeom>
          <a:noFill/>
          <a:ln/>
        </p:spPr>
        <p:txBody>
          <a:bodyPr wrap="square" lIns="0" tIns="0" rIns="0" bIns="0" rtlCol="0" anchor="ctr"/>
          <a:lstStyle/>
          <a:p>
            <a:pPr marL="0" indent="0">
              <a:buNone/>
            </a:pPr>
            <a:r>
              <a:rPr lang="en-US" sz="2000" b="1" dirty="0">
                <a:solidFill>
                  <a:srgbClr val="2A1A3D"/>
                </a:solidFill>
                <a:latin typeface="Cambria" pitchFamily="34" charset="0"/>
                <a:ea typeface="Cambria" pitchFamily="34" charset="-122"/>
                <a:cs typeface="Cambria" pitchFamily="34" charset="-120"/>
              </a:rPr>
              <a:t>Thinks</a:t>
            </a:r>
            <a:endParaRPr lang="en-US" sz="2000" dirty="0"/>
          </a:p>
        </p:txBody>
      </p:sp>
      <p:sp>
        <p:nvSpPr>
          <p:cNvPr id="22" name="Text 15"/>
          <p:cNvSpPr txBox="1"/>
          <p:nvPr/>
        </p:nvSpPr>
        <p:spPr>
          <a:xfrm>
            <a:off x="9034272" y="2331720"/>
            <a:ext cx="2423160" cy="502920"/>
          </a:xfrm>
          <a:prstGeom prst="rect">
            <a:avLst/>
          </a:prstGeom>
          <a:noFill/>
          <a:ln/>
        </p:spPr>
        <p:txBody>
          <a:bodyPr wrap="square" lIns="0" tIns="0" rIns="0" bIns="0" rtlCol="0" anchor="t"/>
          <a:lstStyle/>
          <a:p>
            <a:pPr marL="0" indent="0">
              <a:buNone/>
            </a:pPr>
            <a:r>
              <a:rPr lang="en-US" sz="1300" dirty="0">
                <a:solidFill>
                  <a:srgbClr val="5F5773"/>
                </a:solidFill>
                <a:latin typeface="Calibri" pitchFamily="34" charset="0"/>
                <a:ea typeface="Calibri" pitchFamily="34" charset="-122"/>
                <a:cs typeface="Calibri" pitchFamily="34" charset="-120"/>
              </a:rPr>
              <a:t>Beliefs and worries held inside</a:t>
            </a:r>
            <a:endParaRPr lang="en-US" sz="1300" dirty="0"/>
          </a:p>
        </p:txBody>
      </p:sp>
      <p:sp>
        <p:nvSpPr>
          <p:cNvPr id="23" name="Shape 16"/>
          <p:cNvSpPr/>
          <p:nvPr/>
        </p:nvSpPr>
        <p:spPr>
          <a:xfrm>
            <a:off x="5742432" y="3108960"/>
            <a:ext cx="2834640" cy="1463040"/>
          </a:xfrm>
          <a:prstGeom prst="roundRect">
            <a:avLst>
              <a:gd name="adj" fmla="val 7500"/>
            </a:avLst>
          </a:prstGeom>
          <a:solidFill>
            <a:srgbClr val="F4F1F9"/>
          </a:solidFill>
          <a:ln w="6350">
            <a:solidFill>
              <a:srgbClr val="F4F1F9"/>
            </a:solidFill>
            <a:prstDash val="solid"/>
          </a:ln>
        </p:spPr>
      </p:sp>
      <p:sp>
        <p:nvSpPr>
          <p:cNvPr id="24" name="Shape 17"/>
          <p:cNvSpPr/>
          <p:nvPr/>
        </p:nvSpPr>
        <p:spPr>
          <a:xfrm>
            <a:off x="5971032" y="3291840"/>
            <a:ext cx="548640" cy="548640"/>
          </a:xfrm>
          <a:prstGeom prst="ellipse">
            <a:avLst/>
          </a:prstGeom>
          <a:solidFill>
            <a:srgbClr val="2A1A3D"/>
          </a:solidFill>
          <a:ln w="6350">
            <a:solidFill>
              <a:srgbClr val="2A1A3D"/>
            </a:solidFill>
            <a:prstDash val="solid"/>
          </a:ln>
        </p:spPr>
      </p:sp>
      <p:pic>
        <p:nvPicPr>
          <p:cNvPr id="25" name="Image 5" descr="preencoded.png"/>
          <p:cNvPicPr>
            <a:picLocks noChangeAspect="1"/>
          </p:cNvPicPr>
          <p:nvPr/>
        </p:nvPicPr>
        <p:blipFill>
          <a:blip r:embed="rId6"/>
          <a:stretch>
            <a:fillRect/>
          </a:stretch>
        </p:blipFill>
        <p:spPr>
          <a:xfrm>
            <a:off x="6108192" y="3429000"/>
            <a:ext cx="274320" cy="274320"/>
          </a:xfrm>
          <a:prstGeom prst="rect">
            <a:avLst/>
          </a:prstGeom>
        </p:spPr>
      </p:pic>
      <p:sp>
        <p:nvSpPr>
          <p:cNvPr id="26" name="Text 18"/>
          <p:cNvSpPr txBox="1"/>
          <p:nvPr/>
        </p:nvSpPr>
        <p:spPr>
          <a:xfrm>
            <a:off x="6656832" y="3291840"/>
            <a:ext cx="1737360" cy="548640"/>
          </a:xfrm>
          <a:prstGeom prst="rect">
            <a:avLst/>
          </a:prstGeom>
          <a:noFill/>
          <a:ln/>
        </p:spPr>
        <p:txBody>
          <a:bodyPr wrap="square" lIns="0" tIns="0" rIns="0" bIns="0" rtlCol="0" anchor="ctr"/>
          <a:lstStyle/>
          <a:p>
            <a:pPr marL="0" indent="0">
              <a:buNone/>
            </a:pPr>
            <a:r>
              <a:rPr lang="en-US" sz="2000" b="1" dirty="0">
                <a:solidFill>
                  <a:srgbClr val="2A1A3D"/>
                </a:solidFill>
                <a:latin typeface="Cambria" pitchFamily="34" charset="0"/>
                <a:ea typeface="Cambria" pitchFamily="34" charset="-122"/>
                <a:cs typeface="Cambria" pitchFamily="34" charset="-120"/>
              </a:rPr>
              <a:t>Does</a:t>
            </a:r>
            <a:endParaRPr lang="en-US" sz="2000" dirty="0"/>
          </a:p>
        </p:txBody>
      </p:sp>
      <p:sp>
        <p:nvSpPr>
          <p:cNvPr id="27" name="Text 19"/>
          <p:cNvSpPr txBox="1"/>
          <p:nvPr/>
        </p:nvSpPr>
        <p:spPr>
          <a:xfrm>
            <a:off x="5971032" y="3977640"/>
            <a:ext cx="2423160" cy="502920"/>
          </a:xfrm>
          <a:prstGeom prst="rect">
            <a:avLst/>
          </a:prstGeom>
          <a:noFill/>
          <a:ln/>
        </p:spPr>
        <p:txBody>
          <a:bodyPr wrap="square" lIns="0" tIns="0" rIns="0" bIns="0" rtlCol="0" anchor="t"/>
          <a:lstStyle/>
          <a:p>
            <a:pPr marL="0" indent="0">
              <a:buNone/>
            </a:pPr>
            <a:r>
              <a:rPr lang="en-US" sz="1300" dirty="0">
                <a:solidFill>
                  <a:srgbClr val="5F5773"/>
                </a:solidFill>
                <a:latin typeface="Calibri" pitchFamily="34" charset="0"/>
                <a:ea typeface="Calibri" pitchFamily="34" charset="-122"/>
                <a:cs typeface="Calibri" pitchFamily="34" charset="-120"/>
              </a:rPr>
              <a:t>Observable actions and behaviours</a:t>
            </a:r>
            <a:endParaRPr lang="en-US" sz="1300" dirty="0"/>
          </a:p>
        </p:txBody>
      </p:sp>
      <p:sp>
        <p:nvSpPr>
          <p:cNvPr id="28" name="Shape 20"/>
          <p:cNvSpPr/>
          <p:nvPr/>
        </p:nvSpPr>
        <p:spPr>
          <a:xfrm>
            <a:off x="8805672" y="3108960"/>
            <a:ext cx="2834640" cy="1463040"/>
          </a:xfrm>
          <a:prstGeom prst="roundRect">
            <a:avLst>
              <a:gd name="adj" fmla="val 7500"/>
            </a:avLst>
          </a:prstGeom>
          <a:solidFill>
            <a:srgbClr val="F4F1F9"/>
          </a:solidFill>
          <a:ln w="6350">
            <a:solidFill>
              <a:srgbClr val="F4F1F9"/>
            </a:solidFill>
            <a:prstDash val="solid"/>
          </a:ln>
        </p:spPr>
      </p:sp>
      <p:sp>
        <p:nvSpPr>
          <p:cNvPr id="29" name="Shape 21"/>
          <p:cNvSpPr/>
          <p:nvPr/>
        </p:nvSpPr>
        <p:spPr>
          <a:xfrm>
            <a:off x="9034272" y="3291840"/>
            <a:ext cx="548640" cy="548640"/>
          </a:xfrm>
          <a:prstGeom prst="ellipse">
            <a:avLst/>
          </a:prstGeom>
          <a:solidFill>
            <a:srgbClr val="2A1A3D"/>
          </a:solidFill>
          <a:ln w="6350">
            <a:solidFill>
              <a:srgbClr val="2A1A3D"/>
            </a:solidFill>
            <a:prstDash val="solid"/>
          </a:ln>
        </p:spPr>
      </p:sp>
      <p:pic>
        <p:nvPicPr>
          <p:cNvPr id="30" name="Image 6" descr="preencoded.png"/>
          <p:cNvPicPr>
            <a:picLocks noChangeAspect="1"/>
          </p:cNvPicPr>
          <p:nvPr/>
        </p:nvPicPr>
        <p:blipFill>
          <a:blip r:embed="rId7"/>
          <a:stretch>
            <a:fillRect/>
          </a:stretch>
        </p:blipFill>
        <p:spPr>
          <a:xfrm>
            <a:off x="9171432" y="3429000"/>
            <a:ext cx="274320" cy="274320"/>
          </a:xfrm>
          <a:prstGeom prst="rect">
            <a:avLst/>
          </a:prstGeom>
        </p:spPr>
      </p:pic>
      <p:sp>
        <p:nvSpPr>
          <p:cNvPr id="31" name="Text 22"/>
          <p:cNvSpPr txBox="1"/>
          <p:nvPr/>
        </p:nvSpPr>
        <p:spPr>
          <a:xfrm>
            <a:off x="9720072" y="3291840"/>
            <a:ext cx="1737360" cy="548640"/>
          </a:xfrm>
          <a:prstGeom prst="rect">
            <a:avLst/>
          </a:prstGeom>
          <a:noFill/>
          <a:ln/>
        </p:spPr>
        <p:txBody>
          <a:bodyPr wrap="square" lIns="0" tIns="0" rIns="0" bIns="0" rtlCol="0" anchor="ctr"/>
          <a:lstStyle/>
          <a:p>
            <a:pPr marL="0" indent="0">
              <a:buNone/>
            </a:pPr>
            <a:r>
              <a:rPr lang="en-US" sz="2000" b="1" dirty="0">
                <a:solidFill>
                  <a:srgbClr val="2A1A3D"/>
                </a:solidFill>
                <a:latin typeface="Cambria" pitchFamily="34" charset="0"/>
                <a:ea typeface="Cambria" pitchFamily="34" charset="-122"/>
                <a:cs typeface="Cambria" pitchFamily="34" charset="-120"/>
              </a:rPr>
              <a:t>Feels</a:t>
            </a:r>
            <a:endParaRPr lang="en-US" sz="2000" dirty="0"/>
          </a:p>
        </p:txBody>
      </p:sp>
      <p:sp>
        <p:nvSpPr>
          <p:cNvPr id="32" name="Text 23"/>
          <p:cNvSpPr txBox="1"/>
          <p:nvPr/>
        </p:nvSpPr>
        <p:spPr>
          <a:xfrm>
            <a:off x="9034272" y="3977640"/>
            <a:ext cx="2423160" cy="502920"/>
          </a:xfrm>
          <a:prstGeom prst="rect">
            <a:avLst/>
          </a:prstGeom>
          <a:noFill/>
          <a:ln/>
        </p:spPr>
        <p:txBody>
          <a:bodyPr wrap="square" lIns="0" tIns="0" rIns="0" bIns="0" rtlCol="0" anchor="t"/>
          <a:lstStyle/>
          <a:p>
            <a:pPr marL="0" indent="0">
              <a:buNone/>
            </a:pPr>
            <a:r>
              <a:rPr lang="en-US" sz="1300" dirty="0">
                <a:solidFill>
                  <a:srgbClr val="5F5773"/>
                </a:solidFill>
                <a:latin typeface="Calibri" pitchFamily="34" charset="0"/>
                <a:ea typeface="Calibri" pitchFamily="34" charset="-122"/>
                <a:cs typeface="Calibri" pitchFamily="34" charset="-120"/>
              </a:rPr>
              <a:t>Emotions felt along the journey</a:t>
            </a:r>
            <a:endParaRPr lang="en-US" sz="1300" dirty="0"/>
          </a:p>
        </p:txBody>
      </p:sp>
      <p:sp>
        <p:nvSpPr>
          <p:cNvPr id="33" name="Shape 24"/>
          <p:cNvSpPr/>
          <p:nvPr/>
        </p:nvSpPr>
        <p:spPr>
          <a:xfrm>
            <a:off x="5742432" y="4754880"/>
            <a:ext cx="2834640" cy="1463040"/>
          </a:xfrm>
          <a:prstGeom prst="roundRect">
            <a:avLst>
              <a:gd name="adj" fmla="val 7500"/>
            </a:avLst>
          </a:prstGeom>
          <a:solidFill>
            <a:srgbClr val="F4F1F9"/>
          </a:solidFill>
          <a:ln w="6350">
            <a:solidFill>
              <a:srgbClr val="F4F1F9"/>
            </a:solidFill>
            <a:prstDash val="solid"/>
          </a:ln>
        </p:spPr>
      </p:sp>
      <p:sp>
        <p:nvSpPr>
          <p:cNvPr id="34" name="Shape 25"/>
          <p:cNvSpPr/>
          <p:nvPr/>
        </p:nvSpPr>
        <p:spPr>
          <a:xfrm>
            <a:off x="5971032" y="4937760"/>
            <a:ext cx="548640" cy="548640"/>
          </a:xfrm>
          <a:prstGeom prst="ellipse">
            <a:avLst/>
          </a:prstGeom>
          <a:solidFill>
            <a:srgbClr val="E23B1F"/>
          </a:solidFill>
          <a:ln w="6350">
            <a:solidFill>
              <a:srgbClr val="E23B1F"/>
            </a:solidFill>
            <a:prstDash val="solid"/>
          </a:ln>
        </p:spPr>
      </p:sp>
      <p:pic>
        <p:nvPicPr>
          <p:cNvPr id="35" name="Image 7" descr="preencoded.png"/>
          <p:cNvPicPr>
            <a:picLocks noChangeAspect="1"/>
          </p:cNvPicPr>
          <p:nvPr/>
        </p:nvPicPr>
        <p:blipFill>
          <a:blip r:embed="rId8"/>
          <a:stretch>
            <a:fillRect/>
          </a:stretch>
        </p:blipFill>
        <p:spPr>
          <a:xfrm>
            <a:off x="6108192" y="5074920"/>
            <a:ext cx="274320" cy="274320"/>
          </a:xfrm>
          <a:prstGeom prst="rect">
            <a:avLst/>
          </a:prstGeom>
        </p:spPr>
      </p:pic>
      <p:sp>
        <p:nvSpPr>
          <p:cNvPr id="36" name="Text 26"/>
          <p:cNvSpPr txBox="1"/>
          <p:nvPr/>
        </p:nvSpPr>
        <p:spPr>
          <a:xfrm>
            <a:off x="6656832" y="4937760"/>
            <a:ext cx="1737360" cy="548640"/>
          </a:xfrm>
          <a:prstGeom prst="rect">
            <a:avLst/>
          </a:prstGeom>
          <a:noFill/>
          <a:ln/>
        </p:spPr>
        <p:txBody>
          <a:bodyPr wrap="square" lIns="0" tIns="0" rIns="0" bIns="0" rtlCol="0" anchor="ctr"/>
          <a:lstStyle/>
          <a:p>
            <a:pPr marL="0" indent="0">
              <a:buNone/>
            </a:pPr>
            <a:r>
              <a:rPr lang="en-US" sz="2000" b="1" dirty="0">
                <a:solidFill>
                  <a:srgbClr val="2A1A3D"/>
                </a:solidFill>
                <a:latin typeface="Cambria" pitchFamily="34" charset="0"/>
                <a:ea typeface="Cambria" pitchFamily="34" charset="-122"/>
                <a:cs typeface="Cambria" pitchFamily="34" charset="-120"/>
              </a:rPr>
              <a:t>Pains</a:t>
            </a:r>
            <a:endParaRPr lang="en-US" sz="2000" dirty="0"/>
          </a:p>
        </p:txBody>
      </p:sp>
      <p:sp>
        <p:nvSpPr>
          <p:cNvPr id="37" name="Text 27"/>
          <p:cNvSpPr txBox="1"/>
          <p:nvPr/>
        </p:nvSpPr>
        <p:spPr>
          <a:xfrm>
            <a:off x="5971032" y="5623560"/>
            <a:ext cx="2423160" cy="502920"/>
          </a:xfrm>
          <a:prstGeom prst="rect">
            <a:avLst/>
          </a:prstGeom>
          <a:noFill/>
          <a:ln/>
        </p:spPr>
        <p:txBody>
          <a:bodyPr wrap="square" lIns="0" tIns="0" rIns="0" bIns="0" rtlCol="0" anchor="t"/>
          <a:lstStyle/>
          <a:p>
            <a:pPr marL="0" indent="0">
              <a:buNone/>
            </a:pPr>
            <a:r>
              <a:rPr lang="en-US" sz="1300" dirty="0">
                <a:solidFill>
                  <a:srgbClr val="5F5773"/>
                </a:solidFill>
                <a:latin typeface="Calibri" pitchFamily="34" charset="0"/>
                <a:ea typeface="Calibri" pitchFamily="34" charset="-122"/>
                <a:cs typeface="Calibri" pitchFamily="34" charset="-120"/>
              </a:rPr>
              <a:t>Frustrations, fears and obstacles</a:t>
            </a:r>
            <a:endParaRPr lang="en-US" sz="1300" dirty="0"/>
          </a:p>
        </p:txBody>
      </p:sp>
      <p:sp>
        <p:nvSpPr>
          <p:cNvPr id="38" name="Shape 28"/>
          <p:cNvSpPr/>
          <p:nvPr/>
        </p:nvSpPr>
        <p:spPr>
          <a:xfrm>
            <a:off x="8805672" y="4754880"/>
            <a:ext cx="2834640" cy="1463040"/>
          </a:xfrm>
          <a:prstGeom prst="roundRect">
            <a:avLst>
              <a:gd name="adj" fmla="val 7500"/>
            </a:avLst>
          </a:prstGeom>
          <a:solidFill>
            <a:srgbClr val="F4F1F9"/>
          </a:solidFill>
          <a:ln w="6350">
            <a:solidFill>
              <a:srgbClr val="F4F1F9"/>
            </a:solidFill>
            <a:prstDash val="solid"/>
          </a:ln>
        </p:spPr>
      </p:sp>
      <p:sp>
        <p:nvSpPr>
          <p:cNvPr id="39" name="Shape 29"/>
          <p:cNvSpPr/>
          <p:nvPr/>
        </p:nvSpPr>
        <p:spPr>
          <a:xfrm>
            <a:off x="9034272" y="4937760"/>
            <a:ext cx="548640" cy="548640"/>
          </a:xfrm>
          <a:prstGeom prst="ellipse">
            <a:avLst/>
          </a:prstGeom>
          <a:solidFill>
            <a:srgbClr val="0B8F6D"/>
          </a:solidFill>
          <a:ln w="6350">
            <a:solidFill>
              <a:srgbClr val="0B8F6D"/>
            </a:solidFill>
            <a:prstDash val="solid"/>
          </a:ln>
        </p:spPr>
      </p:sp>
      <p:pic>
        <p:nvPicPr>
          <p:cNvPr id="40" name="Image 8" descr="preencoded.png"/>
          <p:cNvPicPr>
            <a:picLocks noChangeAspect="1"/>
          </p:cNvPicPr>
          <p:nvPr/>
        </p:nvPicPr>
        <p:blipFill>
          <a:blip r:embed="rId9"/>
          <a:stretch>
            <a:fillRect/>
          </a:stretch>
        </p:blipFill>
        <p:spPr>
          <a:xfrm>
            <a:off x="9171432" y="5074920"/>
            <a:ext cx="274320" cy="274320"/>
          </a:xfrm>
          <a:prstGeom prst="rect">
            <a:avLst/>
          </a:prstGeom>
        </p:spPr>
      </p:pic>
      <p:sp>
        <p:nvSpPr>
          <p:cNvPr id="41" name="Text 30"/>
          <p:cNvSpPr txBox="1"/>
          <p:nvPr/>
        </p:nvSpPr>
        <p:spPr>
          <a:xfrm>
            <a:off x="9720072" y="4937760"/>
            <a:ext cx="1737360" cy="548640"/>
          </a:xfrm>
          <a:prstGeom prst="rect">
            <a:avLst/>
          </a:prstGeom>
          <a:noFill/>
          <a:ln/>
        </p:spPr>
        <p:txBody>
          <a:bodyPr wrap="square" lIns="0" tIns="0" rIns="0" bIns="0" rtlCol="0" anchor="ctr"/>
          <a:lstStyle/>
          <a:p>
            <a:pPr marL="0" indent="0">
              <a:buNone/>
            </a:pPr>
            <a:r>
              <a:rPr lang="en-US" sz="2000" b="1" dirty="0">
                <a:solidFill>
                  <a:srgbClr val="2A1A3D"/>
                </a:solidFill>
                <a:latin typeface="Cambria" pitchFamily="34" charset="0"/>
                <a:ea typeface="Cambria" pitchFamily="34" charset="-122"/>
                <a:cs typeface="Cambria" pitchFamily="34" charset="-120"/>
              </a:rPr>
              <a:t>Gains</a:t>
            </a:r>
            <a:endParaRPr lang="en-US" sz="2000" dirty="0"/>
          </a:p>
        </p:txBody>
      </p:sp>
      <p:sp>
        <p:nvSpPr>
          <p:cNvPr id="42" name="Text 31"/>
          <p:cNvSpPr txBox="1"/>
          <p:nvPr/>
        </p:nvSpPr>
        <p:spPr>
          <a:xfrm>
            <a:off x="9034272" y="5623560"/>
            <a:ext cx="2423160" cy="502920"/>
          </a:xfrm>
          <a:prstGeom prst="rect">
            <a:avLst/>
          </a:prstGeom>
          <a:noFill/>
          <a:ln/>
        </p:spPr>
        <p:txBody>
          <a:bodyPr wrap="square" lIns="0" tIns="0" rIns="0" bIns="0" rtlCol="0" anchor="t"/>
          <a:lstStyle/>
          <a:p>
            <a:pPr marL="0" indent="0">
              <a:buNone/>
            </a:pPr>
            <a:r>
              <a:rPr lang="en-US" sz="1300" dirty="0">
                <a:solidFill>
                  <a:srgbClr val="5F5773"/>
                </a:solidFill>
                <a:latin typeface="Calibri" pitchFamily="34" charset="0"/>
                <a:ea typeface="Calibri" pitchFamily="34" charset="-122"/>
                <a:cs typeface="Calibri" pitchFamily="34" charset="-120"/>
              </a:rPr>
              <a:t>Goals, wants and measures of success</a:t>
            </a:r>
            <a:endParaRPr lang="en-US" sz="1300" dirty="0"/>
          </a:p>
        </p:txBody>
      </p:sp>
      <p:sp>
        <p:nvSpPr>
          <p:cNvPr id="43" name="TextBox 42">
            <a:extLst>
              <a:ext uri="{FF2B5EF4-FFF2-40B4-BE49-F238E27FC236}">
                <a16:creationId xmlns:a16="http://schemas.microsoft.com/office/drawing/2014/main" id="{3B80ABC7-A5CD-7010-342D-B21AB855F5C1}"/>
              </a:ext>
            </a:extLst>
          </p:cNvPr>
          <p:cNvSpPr txBox="1"/>
          <p:nvPr/>
        </p:nvSpPr>
        <p:spPr>
          <a:xfrm>
            <a:off x="395422" y="2892515"/>
            <a:ext cx="4754880" cy="3068449"/>
          </a:xfrm>
          <a:prstGeom prst="rect">
            <a:avLst/>
          </a:prstGeom>
          <a:noFill/>
          <a:ln>
            <a:solidFill>
              <a:schemeClr val="bg1"/>
            </a:solidFill>
          </a:ln>
        </p:spPr>
        <p:txBody>
          <a:bodyPr wrap="square" rtlCol="0">
            <a:spAutoFit/>
          </a:bodyPr>
          <a:lstStyle/>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792" y="365760"/>
            <a:ext cx="11094415" cy="731520"/>
          </a:xfrm>
          <a:prstGeom prst="rect">
            <a:avLst/>
          </a:prstGeom>
          <a:noFill/>
          <a:ln/>
        </p:spPr>
        <p:txBody>
          <a:bodyPr wrap="square" lIns="0" tIns="0" rIns="0" bIns="0" rtlCol="0" anchor="ctr"/>
          <a:lstStyle/>
          <a:p>
            <a:pPr marL="0" indent="0">
              <a:buNone/>
            </a:pPr>
            <a:r>
              <a:rPr lang="en-US" sz="3400" b="1" u="sng" dirty="0">
                <a:solidFill>
                  <a:srgbClr val="2A1A3D"/>
                </a:solidFill>
                <a:latin typeface="Cambria" pitchFamily="34" charset="0"/>
                <a:ea typeface="Cambria" pitchFamily="34" charset="-122"/>
                <a:cs typeface="Cambria" pitchFamily="34" charset="-120"/>
              </a:rPr>
              <a:t>Meet Riya, Toing's everyday user</a:t>
            </a:r>
            <a:endParaRPr lang="en-US" sz="3400" u="sng" dirty="0"/>
          </a:p>
        </p:txBody>
      </p:sp>
      <p:sp>
        <p:nvSpPr>
          <p:cNvPr id="3" name="Shape 1"/>
          <p:cNvSpPr/>
          <p:nvPr/>
        </p:nvSpPr>
        <p:spPr>
          <a:xfrm>
            <a:off x="548640" y="1371600"/>
            <a:ext cx="3840480" cy="4754880"/>
          </a:xfrm>
          <a:prstGeom prst="roundRect">
            <a:avLst>
              <a:gd name="adj" fmla="val 2857"/>
            </a:avLst>
          </a:prstGeom>
          <a:solidFill>
            <a:srgbClr val="2A1A3D"/>
          </a:solidFill>
          <a:ln w="6350">
            <a:solidFill>
              <a:srgbClr val="F4F1F9"/>
            </a:solidFill>
            <a:prstDash val="solid"/>
          </a:ln>
        </p:spPr>
      </p:sp>
      <p:sp>
        <p:nvSpPr>
          <p:cNvPr id="4" name="Shape 2"/>
          <p:cNvSpPr/>
          <p:nvPr/>
        </p:nvSpPr>
        <p:spPr>
          <a:xfrm>
            <a:off x="1691640" y="1783080"/>
            <a:ext cx="1554480" cy="1554480"/>
          </a:xfrm>
          <a:prstGeom prst="ellipse">
            <a:avLst/>
          </a:prstGeom>
          <a:solidFill>
            <a:srgbClr val="E23B1F"/>
          </a:solidFill>
          <a:ln w="6350">
            <a:solidFill>
              <a:srgbClr val="E23B1F"/>
            </a:solidFill>
            <a:prstDash val="solid"/>
          </a:ln>
        </p:spPr>
      </p:sp>
      <p:pic>
        <p:nvPicPr>
          <p:cNvPr id="5" name="Image 0" descr="preencoded.png"/>
          <p:cNvPicPr>
            <a:picLocks noChangeAspect="1"/>
          </p:cNvPicPr>
          <p:nvPr/>
        </p:nvPicPr>
        <p:blipFill>
          <a:blip r:embed="rId3"/>
          <a:stretch>
            <a:fillRect/>
          </a:stretch>
        </p:blipFill>
        <p:spPr>
          <a:xfrm>
            <a:off x="2194560" y="2286000"/>
            <a:ext cx="548640" cy="548640"/>
          </a:xfrm>
          <a:prstGeom prst="rect">
            <a:avLst/>
          </a:prstGeom>
        </p:spPr>
      </p:pic>
      <p:sp>
        <p:nvSpPr>
          <p:cNvPr id="6" name="Text 3"/>
          <p:cNvSpPr txBox="1"/>
          <p:nvPr/>
        </p:nvSpPr>
        <p:spPr>
          <a:xfrm>
            <a:off x="548640" y="3520440"/>
            <a:ext cx="3840480" cy="502920"/>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Riya</a:t>
            </a:r>
            <a:endParaRPr lang="en-US" sz="3000" dirty="0"/>
          </a:p>
        </p:txBody>
      </p:sp>
      <p:sp>
        <p:nvSpPr>
          <p:cNvPr id="7" name="Text 4"/>
          <p:cNvSpPr txBox="1"/>
          <p:nvPr/>
        </p:nvSpPr>
        <p:spPr>
          <a:xfrm>
            <a:off x="548640" y="4023360"/>
            <a:ext cx="3840480" cy="365760"/>
          </a:xfrm>
          <a:prstGeom prst="rect">
            <a:avLst/>
          </a:prstGeom>
          <a:noFill/>
          <a:ln/>
        </p:spPr>
        <p:txBody>
          <a:bodyPr wrap="square" lIns="0" tIns="0" rIns="0" bIns="0" rtlCol="0" anchor="ctr"/>
          <a:lstStyle/>
          <a:p>
            <a:pPr marL="0" indent="0" algn="ctr">
              <a:buNone/>
            </a:pPr>
            <a:r>
              <a:rPr lang="en-US" sz="1600" dirty="0">
                <a:solidFill>
                  <a:srgbClr val="D9CFEA"/>
                </a:solidFill>
                <a:latin typeface="Calibri" pitchFamily="34" charset="0"/>
                <a:ea typeface="Calibri" pitchFamily="34" charset="-122"/>
                <a:cs typeface="Calibri" pitchFamily="34" charset="-120"/>
              </a:rPr>
              <a:t>27  ·  Product designer</a:t>
            </a:r>
            <a:endParaRPr lang="en-US" sz="1600" dirty="0"/>
          </a:p>
        </p:txBody>
      </p:sp>
      <p:sp>
        <p:nvSpPr>
          <p:cNvPr id="8" name="Text 5"/>
          <p:cNvSpPr txBox="1"/>
          <p:nvPr/>
        </p:nvSpPr>
        <p:spPr>
          <a:xfrm>
            <a:off x="914400" y="4617720"/>
            <a:ext cx="3108960" cy="1188720"/>
          </a:xfrm>
          <a:prstGeom prst="rect">
            <a:avLst/>
          </a:prstGeom>
          <a:noFill/>
          <a:ln/>
        </p:spPr>
        <p:txBody>
          <a:bodyPr wrap="square" lIns="0" tIns="0" rIns="0" bIns="0" rtlCol="0" anchor="ctr"/>
          <a:lstStyle/>
          <a:p>
            <a:pPr marL="0" indent="0" algn="ctr">
              <a:buNone/>
            </a:pPr>
            <a:r>
              <a:rPr lang="en-US" sz="1700" i="1" dirty="0">
                <a:solidFill>
                  <a:srgbClr val="FFFFFF"/>
                </a:solidFill>
                <a:latin typeface="Cambria" pitchFamily="34" charset="0"/>
                <a:ea typeface="Cambria" pitchFamily="34" charset="-122"/>
                <a:cs typeface="Cambria" pitchFamily="34" charset="-120"/>
              </a:rPr>
              <a:t>“I just want my food hot, on time, with no surprises at checkout.”</a:t>
            </a:r>
            <a:endParaRPr lang="en-US" sz="1700" dirty="0"/>
          </a:p>
        </p:txBody>
      </p:sp>
      <p:sp>
        <p:nvSpPr>
          <p:cNvPr id="9" name="Shape 6"/>
          <p:cNvSpPr/>
          <p:nvPr/>
        </p:nvSpPr>
        <p:spPr>
          <a:xfrm>
            <a:off x="4754880" y="1371600"/>
            <a:ext cx="3310128" cy="2240280"/>
          </a:xfrm>
          <a:prstGeom prst="roundRect">
            <a:avLst>
              <a:gd name="adj" fmla="val 25564"/>
            </a:avLst>
          </a:prstGeom>
          <a:solidFill>
            <a:srgbClr val="F4F1F9"/>
          </a:solidFill>
          <a:ln w="6350">
            <a:solidFill>
              <a:schemeClr val="tx1"/>
            </a:solidFill>
            <a:prstDash val="solid"/>
          </a:ln>
        </p:spPr>
      </p:sp>
      <p:sp>
        <p:nvSpPr>
          <p:cNvPr id="10" name="Shape 7"/>
          <p:cNvSpPr/>
          <p:nvPr/>
        </p:nvSpPr>
        <p:spPr>
          <a:xfrm>
            <a:off x="4983480" y="1572768"/>
            <a:ext cx="502920" cy="502920"/>
          </a:xfrm>
          <a:prstGeom prst="ellipse">
            <a:avLst/>
          </a:prstGeom>
          <a:solidFill>
            <a:srgbClr val="2A1A3D"/>
          </a:solidFill>
          <a:ln w="6350">
            <a:solidFill>
              <a:srgbClr val="2A1A3D"/>
            </a:solidFill>
            <a:prstDash val="solid"/>
          </a:ln>
        </p:spPr>
      </p:sp>
      <p:pic>
        <p:nvPicPr>
          <p:cNvPr id="11" name="Image 1" descr="preencoded.png"/>
          <p:cNvPicPr>
            <a:picLocks noChangeAspect="1"/>
          </p:cNvPicPr>
          <p:nvPr/>
        </p:nvPicPr>
        <p:blipFill>
          <a:blip r:embed="rId3"/>
          <a:stretch>
            <a:fillRect/>
          </a:stretch>
        </p:blipFill>
        <p:spPr>
          <a:xfrm>
            <a:off x="5109210" y="1698498"/>
            <a:ext cx="251460" cy="251460"/>
          </a:xfrm>
          <a:prstGeom prst="rect">
            <a:avLst/>
          </a:prstGeom>
        </p:spPr>
      </p:pic>
      <p:sp>
        <p:nvSpPr>
          <p:cNvPr id="12" name="Text 8"/>
          <p:cNvSpPr txBox="1"/>
          <p:nvPr/>
        </p:nvSpPr>
        <p:spPr>
          <a:xfrm>
            <a:off x="5623560" y="1572768"/>
            <a:ext cx="2258568" cy="502920"/>
          </a:xfrm>
          <a:prstGeom prst="rect">
            <a:avLst/>
          </a:prstGeom>
          <a:noFill/>
          <a:ln/>
        </p:spPr>
        <p:txBody>
          <a:bodyPr wrap="square" lIns="0" tIns="0" rIns="0" bIns="0" rtlCol="0" anchor="ctr"/>
          <a:lstStyle/>
          <a:p>
            <a:pPr marL="0" indent="0">
              <a:buNone/>
            </a:pPr>
            <a:r>
              <a:rPr lang="en-US" sz="1800" b="1" dirty="0">
                <a:solidFill>
                  <a:srgbClr val="2A1A3D"/>
                </a:solidFill>
                <a:latin typeface="Cambria" pitchFamily="34" charset="0"/>
                <a:ea typeface="Cambria" pitchFamily="34" charset="-122"/>
                <a:cs typeface="Cambria" pitchFamily="34" charset="-120"/>
              </a:rPr>
              <a:t>Who she is</a:t>
            </a:r>
            <a:endParaRPr lang="en-US" sz="1800" dirty="0"/>
          </a:p>
        </p:txBody>
      </p:sp>
      <p:sp>
        <p:nvSpPr>
          <p:cNvPr id="13" name="Text 9"/>
          <p:cNvSpPr txBox="1"/>
          <p:nvPr/>
        </p:nvSpPr>
        <p:spPr>
          <a:xfrm>
            <a:off x="4983480" y="2240280"/>
            <a:ext cx="2852928" cy="1234440"/>
          </a:xfrm>
          <a:prstGeom prst="rect">
            <a:avLst/>
          </a:prstGeom>
          <a:noFill/>
          <a:ln/>
        </p:spPr>
        <p:txBody>
          <a:bodyPr wrap="square" lIns="0" tIns="0" rIns="0" bIns="0" rtlCol="0" anchor="t"/>
          <a:lstStyle/>
          <a:p>
            <a:pPr marL="0" indent="0">
              <a:buNone/>
            </a:pPr>
            <a:r>
              <a:rPr lang="en-US" sz="1600" dirty="0">
                <a:solidFill>
                  <a:srgbClr val="2A1A3D"/>
                </a:solidFill>
                <a:latin typeface="Calibri" pitchFamily="34" charset="0"/>
                <a:ea typeface="Calibri" pitchFamily="34" charset="-122"/>
                <a:cs typeface="Calibri" pitchFamily="34" charset="-120"/>
              </a:rPr>
              <a:t>Works hybrid in a busy metro, lives with a flatmate. Comfortable with apps and quick to compare options.</a:t>
            </a:r>
            <a:endParaRPr lang="en-US" sz="1600" dirty="0"/>
          </a:p>
        </p:txBody>
      </p:sp>
      <p:sp>
        <p:nvSpPr>
          <p:cNvPr id="14" name="Shape 10"/>
          <p:cNvSpPr/>
          <p:nvPr/>
        </p:nvSpPr>
        <p:spPr>
          <a:xfrm>
            <a:off x="8330184" y="1412111"/>
            <a:ext cx="3310128" cy="2240280"/>
          </a:xfrm>
          <a:prstGeom prst="roundRect">
            <a:avLst>
              <a:gd name="adj" fmla="val 26081"/>
            </a:avLst>
          </a:prstGeom>
          <a:solidFill>
            <a:srgbClr val="F4F1F9"/>
          </a:solidFill>
          <a:ln w="6350">
            <a:solidFill>
              <a:schemeClr val="tx1"/>
            </a:solidFill>
            <a:prstDash val="solid"/>
          </a:ln>
        </p:spPr>
      </p:sp>
      <p:sp>
        <p:nvSpPr>
          <p:cNvPr id="15" name="Shape 11"/>
          <p:cNvSpPr/>
          <p:nvPr/>
        </p:nvSpPr>
        <p:spPr>
          <a:xfrm>
            <a:off x="8558784" y="1572768"/>
            <a:ext cx="502920" cy="502920"/>
          </a:xfrm>
          <a:prstGeom prst="ellipse">
            <a:avLst/>
          </a:prstGeom>
          <a:solidFill>
            <a:srgbClr val="2A1A3D"/>
          </a:solidFill>
          <a:ln w="6350">
            <a:solidFill>
              <a:srgbClr val="2A1A3D"/>
            </a:solidFill>
            <a:prstDash val="solid"/>
          </a:ln>
        </p:spPr>
      </p:sp>
      <p:pic>
        <p:nvPicPr>
          <p:cNvPr id="16" name="Image 2" descr="preencoded.png"/>
          <p:cNvPicPr>
            <a:picLocks noChangeAspect="1"/>
          </p:cNvPicPr>
          <p:nvPr/>
        </p:nvPicPr>
        <p:blipFill>
          <a:blip r:embed="rId4"/>
          <a:stretch>
            <a:fillRect/>
          </a:stretch>
        </p:blipFill>
        <p:spPr>
          <a:xfrm>
            <a:off x="8684514" y="1698498"/>
            <a:ext cx="251460" cy="251460"/>
          </a:xfrm>
          <a:prstGeom prst="rect">
            <a:avLst/>
          </a:prstGeom>
        </p:spPr>
      </p:pic>
      <p:sp>
        <p:nvSpPr>
          <p:cNvPr id="17" name="Text 12"/>
          <p:cNvSpPr txBox="1"/>
          <p:nvPr/>
        </p:nvSpPr>
        <p:spPr>
          <a:xfrm>
            <a:off x="9198864" y="1572768"/>
            <a:ext cx="2258568" cy="502920"/>
          </a:xfrm>
          <a:prstGeom prst="rect">
            <a:avLst/>
          </a:prstGeom>
          <a:noFill/>
          <a:ln/>
        </p:spPr>
        <p:txBody>
          <a:bodyPr wrap="square" lIns="0" tIns="0" rIns="0" bIns="0" rtlCol="0" anchor="ctr"/>
          <a:lstStyle/>
          <a:p>
            <a:pPr marL="0" indent="0">
              <a:buNone/>
            </a:pPr>
            <a:r>
              <a:rPr lang="en-US" sz="1800" b="1" dirty="0">
                <a:solidFill>
                  <a:srgbClr val="2A1A3D"/>
                </a:solidFill>
                <a:latin typeface="Cambria" pitchFamily="34" charset="0"/>
                <a:ea typeface="Cambria" pitchFamily="34" charset="-122"/>
                <a:cs typeface="Cambria" pitchFamily="34" charset="-120"/>
              </a:rPr>
              <a:t>Ordering habits</a:t>
            </a:r>
            <a:endParaRPr lang="en-US" sz="1800" dirty="0"/>
          </a:p>
        </p:txBody>
      </p:sp>
      <p:sp>
        <p:nvSpPr>
          <p:cNvPr id="18" name="Text 13"/>
          <p:cNvSpPr txBox="1"/>
          <p:nvPr/>
        </p:nvSpPr>
        <p:spPr>
          <a:xfrm>
            <a:off x="8558784" y="2240280"/>
            <a:ext cx="2852928" cy="1234440"/>
          </a:xfrm>
          <a:prstGeom prst="rect">
            <a:avLst/>
          </a:prstGeom>
          <a:noFill/>
          <a:ln/>
        </p:spPr>
        <p:txBody>
          <a:bodyPr wrap="square" lIns="0" tIns="0" rIns="0" bIns="0" rtlCol="0" anchor="t"/>
          <a:lstStyle/>
          <a:p>
            <a:pPr marL="0" indent="0">
              <a:buNone/>
            </a:pPr>
            <a:r>
              <a:rPr lang="en-US" sz="1600" dirty="0">
                <a:solidFill>
                  <a:srgbClr val="2A1A3D"/>
                </a:solidFill>
                <a:latin typeface="Calibri" pitchFamily="34" charset="0"/>
                <a:ea typeface="Calibri" pitchFamily="34" charset="-122"/>
                <a:cs typeface="Calibri" pitchFamily="34" charset="-120"/>
              </a:rPr>
              <a:t>3–4 orders a week: desk lunches, late dinners, weekend treats. Keeps two or three delivery apps installed.</a:t>
            </a:r>
            <a:endParaRPr lang="en-US" sz="1600" dirty="0"/>
          </a:p>
        </p:txBody>
      </p:sp>
      <p:sp>
        <p:nvSpPr>
          <p:cNvPr id="19" name="Shape 14"/>
          <p:cNvSpPr/>
          <p:nvPr/>
        </p:nvSpPr>
        <p:spPr>
          <a:xfrm>
            <a:off x="4754880" y="3886200"/>
            <a:ext cx="3310128" cy="2240280"/>
          </a:xfrm>
          <a:prstGeom prst="roundRect">
            <a:avLst>
              <a:gd name="adj" fmla="val 29698"/>
            </a:avLst>
          </a:prstGeom>
          <a:solidFill>
            <a:srgbClr val="F4F1F9"/>
          </a:solidFill>
          <a:ln w="6350">
            <a:solidFill>
              <a:schemeClr val="tx1"/>
            </a:solidFill>
            <a:prstDash val="solid"/>
          </a:ln>
        </p:spPr>
      </p:sp>
      <p:sp>
        <p:nvSpPr>
          <p:cNvPr id="20" name="Shape 15"/>
          <p:cNvSpPr/>
          <p:nvPr/>
        </p:nvSpPr>
        <p:spPr>
          <a:xfrm>
            <a:off x="4983480" y="4087368"/>
            <a:ext cx="502920" cy="502920"/>
          </a:xfrm>
          <a:prstGeom prst="ellipse">
            <a:avLst/>
          </a:prstGeom>
          <a:solidFill>
            <a:srgbClr val="2A1A3D"/>
          </a:solidFill>
          <a:ln w="6350">
            <a:solidFill>
              <a:srgbClr val="2A1A3D"/>
            </a:solidFill>
            <a:prstDash val="solid"/>
          </a:ln>
        </p:spPr>
      </p:sp>
      <p:pic>
        <p:nvPicPr>
          <p:cNvPr id="21" name="Image 3" descr="preencoded.png"/>
          <p:cNvPicPr>
            <a:picLocks noChangeAspect="1"/>
          </p:cNvPicPr>
          <p:nvPr/>
        </p:nvPicPr>
        <p:blipFill>
          <a:blip r:embed="rId5"/>
          <a:stretch>
            <a:fillRect/>
          </a:stretch>
        </p:blipFill>
        <p:spPr>
          <a:xfrm>
            <a:off x="5109210" y="4213098"/>
            <a:ext cx="251460" cy="251460"/>
          </a:xfrm>
          <a:prstGeom prst="rect">
            <a:avLst/>
          </a:prstGeom>
        </p:spPr>
      </p:pic>
      <p:sp>
        <p:nvSpPr>
          <p:cNvPr id="22" name="Text 16"/>
          <p:cNvSpPr txBox="1"/>
          <p:nvPr/>
        </p:nvSpPr>
        <p:spPr>
          <a:xfrm>
            <a:off x="5623560" y="4087368"/>
            <a:ext cx="2258568" cy="502920"/>
          </a:xfrm>
          <a:prstGeom prst="rect">
            <a:avLst/>
          </a:prstGeom>
          <a:noFill/>
          <a:ln/>
        </p:spPr>
        <p:txBody>
          <a:bodyPr wrap="square" lIns="0" tIns="0" rIns="0" bIns="0" rtlCol="0" anchor="ctr"/>
          <a:lstStyle/>
          <a:p>
            <a:pPr marL="0" indent="0">
              <a:buNone/>
            </a:pPr>
            <a:r>
              <a:rPr lang="en-US" sz="1800" b="1" dirty="0">
                <a:solidFill>
                  <a:srgbClr val="2A1A3D"/>
                </a:solidFill>
                <a:latin typeface="Cambria" pitchFamily="34" charset="0"/>
                <a:ea typeface="Cambria" pitchFamily="34" charset="-122"/>
                <a:cs typeface="Cambria" pitchFamily="34" charset="-120"/>
              </a:rPr>
              <a:t>Goals</a:t>
            </a:r>
            <a:endParaRPr lang="en-US" sz="1800" dirty="0"/>
          </a:p>
        </p:txBody>
      </p:sp>
      <p:sp>
        <p:nvSpPr>
          <p:cNvPr id="23" name="Text 17"/>
          <p:cNvSpPr txBox="1"/>
          <p:nvPr/>
        </p:nvSpPr>
        <p:spPr>
          <a:xfrm>
            <a:off x="4983480" y="4754880"/>
            <a:ext cx="2852928" cy="1234440"/>
          </a:xfrm>
          <a:prstGeom prst="rect">
            <a:avLst/>
          </a:prstGeom>
          <a:noFill/>
          <a:ln/>
        </p:spPr>
        <p:txBody>
          <a:bodyPr wrap="square" lIns="0" tIns="0" rIns="0" bIns="0" rtlCol="0" anchor="t"/>
          <a:lstStyle/>
          <a:p>
            <a:pPr marL="0" indent="0">
              <a:buNone/>
            </a:pPr>
            <a:r>
              <a:rPr lang="en-US" sz="1600" dirty="0">
                <a:solidFill>
                  <a:srgbClr val="2A1A3D"/>
                </a:solidFill>
                <a:latin typeface="Calibri" pitchFamily="34" charset="0"/>
                <a:ea typeface="Calibri" pitchFamily="34" charset="-122"/>
                <a:cs typeface="Calibri" pitchFamily="34" charset="-120"/>
              </a:rPr>
              <a:t>A hot, reliable meal with minimal effort, and a sense of control over cost and timing.</a:t>
            </a:r>
            <a:endParaRPr lang="en-US" sz="1600" dirty="0"/>
          </a:p>
        </p:txBody>
      </p:sp>
      <p:sp>
        <p:nvSpPr>
          <p:cNvPr id="24" name="Shape 18"/>
          <p:cNvSpPr/>
          <p:nvPr/>
        </p:nvSpPr>
        <p:spPr>
          <a:xfrm>
            <a:off x="8330184" y="3886200"/>
            <a:ext cx="3310128" cy="2240280"/>
          </a:xfrm>
          <a:prstGeom prst="roundRect">
            <a:avLst>
              <a:gd name="adj" fmla="val 30731"/>
            </a:avLst>
          </a:prstGeom>
          <a:solidFill>
            <a:srgbClr val="F4F1F9"/>
          </a:solidFill>
          <a:ln w="6350">
            <a:solidFill>
              <a:schemeClr val="tx1"/>
            </a:solidFill>
            <a:prstDash val="solid"/>
          </a:ln>
        </p:spPr>
      </p:sp>
      <p:sp>
        <p:nvSpPr>
          <p:cNvPr id="25" name="Shape 19"/>
          <p:cNvSpPr/>
          <p:nvPr/>
        </p:nvSpPr>
        <p:spPr>
          <a:xfrm>
            <a:off x="8558784" y="4087368"/>
            <a:ext cx="502920" cy="502920"/>
          </a:xfrm>
          <a:prstGeom prst="ellipse">
            <a:avLst/>
          </a:prstGeom>
          <a:solidFill>
            <a:srgbClr val="2A1A3D"/>
          </a:solidFill>
          <a:ln w="6350">
            <a:solidFill>
              <a:srgbClr val="2A1A3D"/>
            </a:solidFill>
            <a:prstDash val="solid"/>
          </a:ln>
        </p:spPr>
      </p:sp>
      <p:pic>
        <p:nvPicPr>
          <p:cNvPr id="26" name="Image 4" descr="preencoded.png"/>
          <p:cNvPicPr>
            <a:picLocks noChangeAspect="1"/>
          </p:cNvPicPr>
          <p:nvPr/>
        </p:nvPicPr>
        <p:blipFill>
          <a:blip r:embed="rId6"/>
          <a:stretch>
            <a:fillRect/>
          </a:stretch>
        </p:blipFill>
        <p:spPr>
          <a:xfrm>
            <a:off x="8684514" y="4213098"/>
            <a:ext cx="251460" cy="251460"/>
          </a:xfrm>
          <a:prstGeom prst="rect">
            <a:avLst/>
          </a:prstGeom>
        </p:spPr>
      </p:pic>
      <p:sp>
        <p:nvSpPr>
          <p:cNvPr id="27" name="Text 20"/>
          <p:cNvSpPr txBox="1"/>
          <p:nvPr/>
        </p:nvSpPr>
        <p:spPr>
          <a:xfrm>
            <a:off x="9198864" y="4087368"/>
            <a:ext cx="2258568" cy="502920"/>
          </a:xfrm>
          <a:prstGeom prst="rect">
            <a:avLst/>
          </a:prstGeom>
          <a:noFill/>
          <a:ln/>
        </p:spPr>
        <p:txBody>
          <a:bodyPr wrap="square" lIns="0" tIns="0" rIns="0" bIns="0" rtlCol="0" anchor="ctr"/>
          <a:lstStyle/>
          <a:p>
            <a:pPr marL="0" indent="0">
              <a:buNone/>
            </a:pPr>
            <a:r>
              <a:rPr lang="en-US" sz="1800" b="1" dirty="0">
                <a:solidFill>
                  <a:srgbClr val="2A1A3D"/>
                </a:solidFill>
                <a:latin typeface="Cambria" pitchFamily="34" charset="0"/>
                <a:ea typeface="Cambria" pitchFamily="34" charset="-122"/>
                <a:cs typeface="Cambria" pitchFamily="34" charset="-120"/>
              </a:rPr>
              <a:t>Context</a:t>
            </a:r>
            <a:endParaRPr lang="en-US" sz="1800" dirty="0"/>
          </a:p>
        </p:txBody>
      </p:sp>
      <p:sp>
        <p:nvSpPr>
          <p:cNvPr id="28" name="Text 21"/>
          <p:cNvSpPr txBox="1"/>
          <p:nvPr/>
        </p:nvSpPr>
        <p:spPr>
          <a:xfrm>
            <a:off x="8558784" y="4754880"/>
            <a:ext cx="2852928" cy="1234440"/>
          </a:xfrm>
          <a:prstGeom prst="rect">
            <a:avLst/>
          </a:prstGeom>
          <a:noFill/>
          <a:ln/>
        </p:spPr>
        <p:txBody>
          <a:bodyPr wrap="square" lIns="0" tIns="0" rIns="0" bIns="0" rtlCol="0" anchor="t"/>
          <a:lstStyle/>
          <a:p>
            <a:pPr marL="0" indent="0">
              <a:buNone/>
            </a:pPr>
            <a:r>
              <a:rPr lang="en-US" sz="1600" dirty="0">
                <a:solidFill>
                  <a:srgbClr val="2A1A3D"/>
                </a:solidFill>
                <a:latin typeface="Calibri" pitchFamily="34" charset="0"/>
                <a:ea typeface="Calibri" pitchFamily="34" charset="-122"/>
                <a:cs typeface="Calibri" pitchFamily="34" charset="-120"/>
              </a:rPr>
              <a:t>Short breaks, one-handed use on the move, and very little patience for delays.</a:t>
            </a:r>
            <a:endParaRPr lang="en-US" sz="1600" dirty="0"/>
          </a:p>
        </p:txBody>
      </p:sp>
      <p:sp>
        <p:nvSpPr>
          <p:cNvPr id="29" name="Text 22"/>
          <p:cNvSpPr txBox="1"/>
          <p:nvPr/>
        </p:nvSpPr>
        <p:spPr>
          <a:xfrm>
            <a:off x="4754880" y="6263640"/>
            <a:ext cx="6858000" cy="274320"/>
          </a:xfrm>
          <a:prstGeom prst="rect">
            <a:avLst/>
          </a:prstGeom>
          <a:noFill/>
          <a:ln/>
        </p:spPr>
        <p:txBody>
          <a:bodyPr wrap="square" lIns="0" tIns="0" rIns="0" bIns="0" rtlCol="0" anchor="ctr"/>
          <a:lstStyle/>
          <a:p>
            <a:pPr marL="0" indent="0">
              <a:buNone/>
            </a:pPr>
            <a:r>
              <a:rPr lang="en-US" sz="1100" i="1" dirty="0">
                <a:solidFill>
                  <a:srgbClr val="5F5773"/>
                </a:solidFill>
                <a:latin typeface="Calibri" pitchFamily="34" charset="0"/>
                <a:ea typeface="Calibri" pitchFamily="34" charset="-122"/>
                <a:cs typeface="Calibri" pitchFamily="34" charset="-120"/>
              </a:rPr>
              <a:t>Composite persona based on typical food-delivery behaviour. Validate with real user interviews.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400" b="1" u="sng" dirty="0">
                <a:solidFill>
                  <a:srgbClr val="2A1A3D"/>
                </a:solidFill>
                <a:latin typeface="Cambria" pitchFamily="34" charset="0"/>
                <a:ea typeface="Cambria" pitchFamily="34" charset="-122"/>
                <a:cs typeface="Cambria" pitchFamily="34" charset="-120"/>
              </a:rPr>
              <a:t>What Riya says, thinks, does and feels</a:t>
            </a:r>
            <a:endParaRPr lang="en-US" sz="3400" u="sng" dirty="0"/>
          </a:p>
        </p:txBody>
      </p:sp>
      <p:sp>
        <p:nvSpPr>
          <p:cNvPr id="3" name="Shape 1"/>
          <p:cNvSpPr/>
          <p:nvPr/>
        </p:nvSpPr>
        <p:spPr>
          <a:xfrm>
            <a:off x="548640" y="1280160"/>
            <a:ext cx="5387188" cy="2468880"/>
          </a:xfrm>
          <a:prstGeom prst="roundRect">
            <a:avLst>
              <a:gd name="adj" fmla="val 11142"/>
            </a:avLst>
          </a:prstGeom>
          <a:solidFill>
            <a:srgbClr val="F4F1F9"/>
          </a:solidFill>
          <a:ln w="6350">
            <a:solidFill>
              <a:schemeClr val="tx1"/>
            </a:solidFill>
            <a:prstDash val="solid"/>
          </a:ln>
        </p:spPr>
      </p:sp>
      <p:sp>
        <p:nvSpPr>
          <p:cNvPr id="4" name="Shape 2"/>
          <p:cNvSpPr/>
          <p:nvPr/>
        </p:nvSpPr>
        <p:spPr>
          <a:xfrm>
            <a:off x="822960" y="1463040"/>
            <a:ext cx="548640" cy="548640"/>
          </a:xfrm>
          <a:prstGeom prst="ellipse">
            <a:avLst/>
          </a:prstGeom>
          <a:solidFill>
            <a:srgbClr val="2A1A3D"/>
          </a:solidFill>
          <a:ln w="6350">
            <a:solidFill>
              <a:srgbClr val="2A1A3D"/>
            </a:solidFill>
            <a:prstDash val="solid"/>
          </a:ln>
        </p:spPr>
      </p:sp>
      <p:pic>
        <p:nvPicPr>
          <p:cNvPr id="5" name="Image 0" descr="preencoded.png"/>
          <p:cNvPicPr>
            <a:picLocks noChangeAspect="1"/>
          </p:cNvPicPr>
          <p:nvPr/>
        </p:nvPicPr>
        <p:blipFill>
          <a:blip r:embed="rId3"/>
          <a:stretch>
            <a:fillRect/>
          </a:stretch>
        </p:blipFill>
        <p:spPr>
          <a:xfrm>
            <a:off x="960120" y="1600200"/>
            <a:ext cx="274320" cy="274320"/>
          </a:xfrm>
          <a:prstGeom prst="rect">
            <a:avLst/>
          </a:prstGeom>
        </p:spPr>
      </p:pic>
      <p:sp>
        <p:nvSpPr>
          <p:cNvPr id="6" name="Text 3"/>
          <p:cNvSpPr txBox="1"/>
          <p:nvPr/>
        </p:nvSpPr>
        <p:spPr>
          <a:xfrm>
            <a:off x="1508760" y="1435608"/>
            <a:ext cx="3649828" cy="603504"/>
          </a:xfrm>
          <a:prstGeom prst="rect">
            <a:avLst/>
          </a:prstGeom>
          <a:noFill/>
          <a:ln/>
        </p:spPr>
        <p:txBody>
          <a:bodyPr wrap="square" lIns="0" tIns="0" rIns="0" bIns="0" rtlCol="0" anchor="ctr"/>
          <a:lstStyle/>
          <a:p>
            <a:pPr marL="0" indent="0">
              <a:buNone/>
            </a:pPr>
            <a:r>
              <a:rPr lang="en-US" sz="2000" b="1" dirty="0">
                <a:solidFill>
                  <a:srgbClr val="2A1A3D"/>
                </a:solidFill>
                <a:latin typeface="Cambria" pitchFamily="34" charset="0"/>
                <a:ea typeface="Cambria" pitchFamily="34" charset="-122"/>
                <a:cs typeface="Cambria" pitchFamily="34" charset="-120"/>
              </a:rPr>
              <a:t>Says</a:t>
            </a:r>
            <a:endParaRPr lang="en-US" sz="2000" dirty="0"/>
          </a:p>
          <a:p>
            <a:pPr marL="0" indent="0">
              <a:buNone/>
            </a:pPr>
            <a:r>
              <a:rPr lang="en-US" sz="1200" dirty="0">
                <a:solidFill>
                  <a:srgbClr val="5F5773"/>
                </a:solidFill>
                <a:latin typeface="Calibri" pitchFamily="34" charset="0"/>
                <a:ea typeface="Calibri" pitchFamily="34" charset="-122"/>
                <a:cs typeface="Calibri" pitchFamily="34" charset="-120"/>
              </a:rPr>
              <a:t>What she says out loud</a:t>
            </a:r>
            <a:endParaRPr lang="en-US" sz="2000" dirty="0"/>
          </a:p>
        </p:txBody>
      </p:sp>
      <p:sp>
        <p:nvSpPr>
          <p:cNvPr id="7" name="Text 4"/>
          <p:cNvSpPr txBox="1"/>
          <p:nvPr/>
        </p:nvSpPr>
        <p:spPr>
          <a:xfrm>
            <a:off x="822960" y="2194560"/>
            <a:ext cx="4335628" cy="14630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“Where’s my order? The ETA keeps changing.”</a:t>
            </a:r>
            <a:endParaRPr lang="en-US" sz="1500" dirty="0"/>
          </a:p>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“Why is the delivery fee higher than my dish?”</a:t>
            </a:r>
            <a:endParaRPr lang="en-US" sz="1500" dirty="0"/>
          </a:p>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“Same place, on time again. I’ll reorder.”</a:t>
            </a:r>
            <a:endParaRPr lang="en-US" sz="1500" dirty="0"/>
          </a:p>
        </p:txBody>
      </p:sp>
      <p:sp>
        <p:nvSpPr>
          <p:cNvPr id="8" name="Shape 5"/>
          <p:cNvSpPr/>
          <p:nvPr/>
        </p:nvSpPr>
        <p:spPr>
          <a:xfrm>
            <a:off x="6255868" y="1280160"/>
            <a:ext cx="5387188" cy="2468880"/>
          </a:xfrm>
          <a:prstGeom prst="roundRect">
            <a:avLst>
              <a:gd name="adj" fmla="val 24144"/>
            </a:avLst>
          </a:prstGeom>
          <a:solidFill>
            <a:srgbClr val="F4F1F9"/>
          </a:solidFill>
          <a:ln w="6350">
            <a:solidFill>
              <a:schemeClr val="tx1"/>
            </a:solidFill>
            <a:prstDash val="solid"/>
          </a:ln>
        </p:spPr>
      </p:sp>
      <p:sp>
        <p:nvSpPr>
          <p:cNvPr id="9" name="Shape 6"/>
          <p:cNvSpPr/>
          <p:nvPr/>
        </p:nvSpPr>
        <p:spPr>
          <a:xfrm>
            <a:off x="7033108" y="1463040"/>
            <a:ext cx="548640" cy="548640"/>
          </a:xfrm>
          <a:prstGeom prst="ellipse">
            <a:avLst/>
          </a:prstGeom>
          <a:solidFill>
            <a:srgbClr val="2A1A3D"/>
          </a:solidFill>
          <a:ln w="6350">
            <a:solidFill>
              <a:srgbClr val="2A1A3D"/>
            </a:solidFill>
            <a:prstDash val="solid"/>
          </a:ln>
        </p:spPr>
      </p:sp>
      <p:pic>
        <p:nvPicPr>
          <p:cNvPr id="10" name="Image 1" descr="preencoded.png"/>
          <p:cNvPicPr>
            <a:picLocks noChangeAspect="1"/>
          </p:cNvPicPr>
          <p:nvPr/>
        </p:nvPicPr>
        <p:blipFill>
          <a:blip r:embed="rId4"/>
          <a:stretch>
            <a:fillRect/>
          </a:stretch>
        </p:blipFill>
        <p:spPr>
          <a:xfrm>
            <a:off x="7170268" y="1600200"/>
            <a:ext cx="274320" cy="274320"/>
          </a:xfrm>
          <a:prstGeom prst="rect">
            <a:avLst/>
          </a:prstGeom>
        </p:spPr>
      </p:pic>
      <p:sp>
        <p:nvSpPr>
          <p:cNvPr id="11" name="Text 7"/>
          <p:cNvSpPr txBox="1"/>
          <p:nvPr/>
        </p:nvSpPr>
        <p:spPr>
          <a:xfrm>
            <a:off x="7718908" y="1435608"/>
            <a:ext cx="3649828" cy="603504"/>
          </a:xfrm>
          <a:prstGeom prst="rect">
            <a:avLst/>
          </a:prstGeom>
          <a:noFill/>
          <a:ln/>
        </p:spPr>
        <p:txBody>
          <a:bodyPr wrap="square" lIns="0" tIns="0" rIns="0" bIns="0" rtlCol="0" anchor="ctr"/>
          <a:lstStyle/>
          <a:p>
            <a:pPr marL="0" indent="0">
              <a:buNone/>
            </a:pPr>
            <a:r>
              <a:rPr lang="en-US" sz="2000" b="1" dirty="0">
                <a:solidFill>
                  <a:srgbClr val="2A1A3D"/>
                </a:solidFill>
                <a:latin typeface="Cambria" pitchFamily="34" charset="0"/>
                <a:ea typeface="Cambria" pitchFamily="34" charset="-122"/>
                <a:cs typeface="Cambria" pitchFamily="34" charset="-120"/>
              </a:rPr>
              <a:t>Thinks</a:t>
            </a:r>
            <a:endParaRPr lang="en-US" sz="2000" dirty="0"/>
          </a:p>
          <a:p>
            <a:pPr marL="0" indent="0">
              <a:buNone/>
            </a:pPr>
            <a:r>
              <a:rPr lang="en-US" sz="1200" dirty="0">
                <a:solidFill>
                  <a:srgbClr val="5F5773"/>
                </a:solidFill>
                <a:latin typeface="Calibri" pitchFamily="34" charset="0"/>
                <a:ea typeface="Calibri" pitchFamily="34" charset="-122"/>
                <a:cs typeface="Calibri" pitchFamily="34" charset="-120"/>
              </a:rPr>
              <a:t>What goes on in her head</a:t>
            </a:r>
            <a:endParaRPr lang="en-US" sz="2000" dirty="0"/>
          </a:p>
        </p:txBody>
      </p:sp>
      <p:sp>
        <p:nvSpPr>
          <p:cNvPr id="12" name="Text 8"/>
          <p:cNvSpPr txBox="1"/>
          <p:nvPr/>
        </p:nvSpPr>
        <p:spPr>
          <a:xfrm>
            <a:off x="7033108" y="2194560"/>
            <a:ext cx="4335628" cy="1463040"/>
          </a:xfrm>
          <a:prstGeom prst="rect">
            <a:avLst/>
          </a:prstGeom>
          <a:noFill/>
          <a:ln>
            <a:solidFill>
              <a:srgbClr val="F4F1F9"/>
            </a:solidFill>
          </a:ln>
        </p:spPr>
        <p:txBody>
          <a:bodyPr wrap="square" lIns="0" tIns="0" rIns="0" bIns="0" rtlCol="0" anchor="t"/>
          <a:lstStyle/>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Will it arrive hot and on time?</a:t>
            </a:r>
            <a:endParaRPr lang="en-US" sz="1500" dirty="0"/>
          </a:p>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Is there a coupon I’m missing?</a:t>
            </a:r>
            <a:endParaRPr lang="en-US" sz="1500" dirty="0"/>
          </a:p>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If something goes wrong, will support actually help?</a:t>
            </a:r>
            <a:endParaRPr lang="en-US" sz="1500" dirty="0"/>
          </a:p>
        </p:txBody>
      </p:sp>
      <p:sp>
        <p:nvSpPr>
          <p:cNvPr id="13" name="Shape 9"/>
          <p:cNvSpPr/>
          <p:nvPr/>
        </p:nvSpPr>
        <p:spPr>
          <a:xfrm>
            <a:off x="548640" y="3931920"/>
            <a:ext cx="5387188" cy="2468880"/>
          </a:xfrm>
          <a:prstGeom prst="roundRect">
            <a:avLst>
              <a:gd name="adj" fmla="val 17446"/>
            </a:avLst>
          </a:prstGeom>
          <a:solidFill>
            <a:srgbClr val="F4F1F9"/>
          </a:solidFill>
          <a:ln w="6350">
            <a:solidFill>
              <a:schemeClr val="tx1">
                <a:lumMod val="95000"/>
                <a:lumOff val="5000"/>
              </a:schemeClr>
            </a:solidFill>
            <a:prstDash val="solid"/>
          </a:ln>
        </p:spPr>
      </p:sp>
      <p:sp>
        <p:nvSpPr>
          <p:cNvPr id="14" name="Shape 10"/>
          <p:cNvSpPr/>
          <p:nvPr/>
        </p:nvSpPr>
        <p:spPr>
          <a:xfrm>
            <a:off x="822960" y="4114800"/>
            <a:ext cx="548640" cy="548640"/>
          </a:xfrm>
          <a:prstGeom prst="ellipse">
            <a:avLst/>
          </a:prstGeom>
          <a:solidFill>
            <a:srgbClr val="2A1A3D"/>
          </a:solidFill>
          <a:ln w="6350">
            <a:solidFill>
              <a:srgbClr val="2A1A3D"/>
            </a:solidFill>
            <a:prstDash val="solid"/>
          </a:ln>
        </p:spPr>
      </p:sp>
      <p:pic>
        <p:nvPicPr>
          <p:cNvPr id="15" name="Image 2" descr="preencoded.png"/>
          <p:cNvPicPr>
            <a:picLocks noChangeAspect="1"/>
          </p:cNvPicPr>
          <p:nvPr/>
        </p:nvPicPr>
        <p:blipFill>
          <a:blip r:embed="rId5"/>
          <a:stretch>
            <a:fillRect/>
          </a:stretch>
        </p:blipFill>
        <p:spPr>
          <a:xfrm>
            <a:off x="960120" y="4251960"/>
            <a:ext cx="274320" cy="274320"/>
          </a:xfrm>
          <a:prstGeom prst="rect">
            <a:avLst/>
          </a:prstGeom>
        </p:spPr>
      </p:pic>
      <p:sp>
        <p:nvSpPr>
          <p:cNvPr id="16" name="Text 11"/>
          <p:cNvSpPr txBox="1"/>
          <p:nvPr/>
        </p:nvSpPr>
        <p:spPr>
          <a:xfrm>
            <a:off x="1508760" y="4087368"/>
            <a:ext cx="3649828" cy="603504"/>
          </a:xfrm>
          <a:prstGeom prst="rect">
            <a:avLst/>
          </a:prstGeom>
          <a:noFill/>
          <a:ln/>
        </p:spPr>
        <p:txBody>
          <a:bodyPr wrap="square" lIns="0" tIns="0" rIns="0" bIns="0" rtlCol="0" anchor="ctr"/>
          <a:lstStyle/>
          <a:p>
            <a:pPr marL="0" indent="0">
              <a:buNone/>
            </a:pPr>
            <a:r>
              <a:rPr lang="en-US" sz="2000" b="1" dirty="0">
                <a:solidFill>
                  <a:srgbClr val="2A1A3D"/>
                </a:solidFill>
                <a:latin typeface="Cambria" pitchFamily="34" charset="0"/>
                <a:ea typeface="Cambria" pitchFamily="34" charset="-122"/>
                <a:cs typeface="Cambria" pitchFamily="34" charset="-120"/>
              </a:rPr>
              <a:t>Does</a:t>
            </a:r>
            <a:endParaRPr lang="en-US" sz="2000" dirty="0"/>
          </a:p>
          <a:p>
            <a:pPr marL="0" indent="0">
              <a:buNone/>
            </a:pPr>
            <a:r>
              <a:rPr lang="en-US" sz="1200" dirty="0">
                <a:solidFill>
                  <a:srgbClr val="5F5773"/>
                </a:solidFill>
                <a:latin typeface="Calibri" pitchFamily="34" charset="0"/>
                <a:ea typeface="Calibri" pitchFamily="34" charset="-122"/>
                <a:cs typeface="Calibri" pitchFamily="34" charset="-120"/>
              </a:rPr>
              <a:t>What she actually does</a:t>
            </a:r>
            <a:endParaRPr lang="en-US" sz="2000" dirty="0"/>
          </a:p>
        </p:txBody>
      </p:sp>
      <p:sp>
        <p:nvSpPr>
          <p:cNvPr id="17" name="Text 12"/>
          <p:cNvSpPr txBox="1"/>
          <p:nvPr/>
        </p:nvSpPr>
        <p:spPr>
          <a:xfrm>
            <a:off x="822960" y="4846320"/>
            <a:ext cx="4335628" cy="14630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Filters by rating, delivery time and price</a:t>
            </a:r>
            <a:endParaRPr lang="en-US" sz="1500" dirty="0"/>
          </a:p>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Compares offers across two or three apps</a:t>
            </a:r>
            <a:endParaRPr lang="en-US" sz="1500" dirty="0"/>
          </a:p>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Refreshes live tracking again and again</a:t>
            </a:r>
            <a:endParaRPr lang="en-US" sz="1500" dirty="0"/>
          </a:p>
        </p:txBody>
      </p:sp>
      <p:sp>
        <p:nvSpPr>
          <p:cNvPr id="18" name="Shape 13"/>
          <p:cNvSpPr/>
          <p:nvPr/>
        </p:nvSpPr>
        <p:spPr>
          <a:xfrm>
            <a:off x="6255868" y="3931920"/>
            <a:ext cx="5387188" cy="2468880"/>
          </a:xfrm>
          <a:prstGeom prst="roundRect">
            <a:avLst>
              <a:gd name="adj" fmla="val 17777"/>
            </a:avLst>
          </a:prstGeom>
          <a:solidFill>
            <a:srgbClr val="F4F1F9"/>
          </a:solidFill>
          <a:ln w="6350">
            <a:solidFill>
              <a:schemeClr val="tx1">
                <a:lumMod val="95000"/>
                <a:lumOff val="5000"/>
              </a:schemeClr>
            </a:solidFill>
            <a:prstDash val="solid"/>
          </a:ln>
        </p:spPr>
      </p:sp>
      <p:sp>
        <p:nvSpPr>
          <p:cNvPr id="19" name="Shape 14"/>
          <p:cNvSpPr/>
          <p:nvPr/>
        </p:nvSpPr>
        <p:spPr>
          <a:xfrm>
            <a:off x="7033108" y="4114800"/>
            <a:ext cx="548640" cy="548640"/>
          </a:xfrm>
          <a:prstGeom prst="ellipse">
            <a:avLst/>
          </a:prstGeom>
          <a:solidFill>
            <a:srgbClr val="2A1A3D"/>
          </a:solidFill>
          <a:ln w="6350">
            <a:solidFill>
              <a:srgbClr val="2A1A3D"/>
            </a:solidFill>
            <a:prstDash val="solid"/>
          </a:ln>
        </p:spPr>
      </p:sp>
      <p:pic>
        <p:nvPicPr>
          <p:cNvPr id="20" name="Image 3" descr="preencoded.png"/>
          <p:cNvPicPr>
            <a:picLocks noChangeAspect="1"/>
          </p:cNvPicPr>
          <p:nvPr/>
        </p:nvPicPr>
        <p:blipFill>
          <a:blip r:embed="rId6"/>
          <a:stretch>
            <a:fillRect/>
          </a:stretch>
        </p:blipFill>
        <p:spPr>
          <a:xfrm>
            <a:off x="7170268" y="4251960"/>
            <a:ext cx="274320" cy="274320"/>
          </a:xfrm>
          <a:prstGeom prst="rect">
            <a:avLst/>
          </a:prstGeom>
        </p:spPr>
      </p:pic>
      <p:sp>
        <p:nvSpPr>
          <p:cNvPr id="21" name="Text 15"/>
          <p:cNvSpPr txBox="1"/>
          <p:nvPr/>
        </p:nvSpPr>
        <p:spPr>
          <a:xfrm>
            <a:off x="7718908" y="4087368"/>
            <a:ext cx="3649828" cy="603504"/>
          </a:xfrm>
          <a:prstGeom prst="rect">
            <a:avLst/>
          </a:prstGeom>
          <a:noFill/>
          <a:ln/>
        </p:spPr>
        <p:txBody>
          <a:bodyPr wrap="square" lIns="0" tIns="0" rIns="0" bIns="0" rtlCol="0" anchor="ctr"/>
          <a:lstStyle/>
          <a:p>
            <a:pPr marL="0" indent="0">
              <a:buNone/>
            </a:pPr>
            <a:r>
              <a:rPr lang="en-US" sz="2000" b="1" dirty="0">
                <a:solidFill>
                  <a:srgbClr val="2A1A3D"/>
                </a:solidFill>
                <a:latin typeface="Cambria" pitchFamily="34" charset="0"/>
                <a:ea typeface="Cambria" pitchFamily="34" charset="-122"/>
                <a:cs typeface="Cambria" pitchFamily="34" charset="-120"/>
              </a:rPr>
              <a:t>Feels</a:t>
            </a:r>
            <a:endParaRPr lang="en-US" sz="2000" dirty="0"/>
          </a:p>
          <a:p>
            <a:pPr marL="0" indent="0">
              <a:buNone/>
            </a:pPr>
            <a:r>
              <a:rPr lang="en-US" sz="1200" dirty="0">
                <a:solidFill>
                  <a:srgbClr val="5F5773"/>
                </a:solidFill>
                <a:latin typeface="Calibri" pitchFamily="34" charset="0"/>
                <a:ea typeface="Calibri" pitchFamily="34" charset="-122"/>
                <a:cs typeface="Calibri" pitchFamily="34" charset="-120"/>
              </a:rPr>
              <a:t>What she feels along the way</a:t>
            </a:r>
            <a:endParaRPr lang="en-US" sz="2000" dirty="0"/>
          </a:p>
        </p:txBody>
      </p:sp>
      <p:sp>
        <p:nvSpPr>
          <p:cNvPr id="22" name="Text 16"/>
          <p:cNvSpPr txBox="1"/>
          <p:nvPr/>
        </p:nvSpPr>
        <p:spPr>
          <a:xfrm>
            <a:off x="7033108" y="4846320"/>
            <a:ext cx="4335628" cy="146304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Excited and hungry while browsing</a:t>
            </a:r>
            <a:endParaRPr lang="en-US" sz="1500" dirty="0"/>
          </a:p>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Anxious and impatient during the wait</a:t>
            </a:r>
            <a:endParaRPr lang="en-US" sz="1500" dirty="0"/>
          </a:p>
          <a:p>
            <a:pPr marL="177800" indent="-177800">
              <a:spcAft>
                <a:spcPts val="800"/>
              </a:spcAft>
              <a:buSzPct val="100000"/>
              <a:buChar char="•"/>
            </a:pPr>
            <a:r>
              <a:rPr lang="en-US" sz="1500" dirty="0">
                <a:solidFill>
                  <a:srgbClr val="2A1A3D"/>
                </a:solidFill>
                <a:latin typeface="Calibri" pitchFamily="34" charset="0"/>
                <a:ea typeface="Calibri" pitchFamily="34" charset="-122"/>
                <a:cs typeface="Calibri" pitchFamily="34" charset="-120"/>
              </a:rPr>
              <a:t>Frustrated by surprise fees; delighted when it just works</a:t>
            </a:r>
            <a:endParaRPr lang="en-US" sz="1500" dirty="0"/>
          </a:p>
        </p:txBody>
      </p:sp>
      <p:sp>
        <p:nvSpPr>
          <p:cNvPr id="23" name="Shape 17"/>
          <p:cNvSpPr/>
          <p:nvPr/>
        </p:nvSpPr>
        <p:spPr>
          <a:xfrm>
            <a:off x="5501945" y="3246120"/>
            <a:ext cx="1188720" cy="1188720"/>
          </a:xfrm>
          <a:prstGeom prst="ellipse">
            <a:avLst/>
          </a:prstGeom>
          <a:solidFill>
            <a:srgbClr val="E23B1F"/>
          </a:solidFill>
          <a:ln w="50800">
            <a:solidFill>
              <a:srgbClr val="FFFFFF"/>
            </a:solidFill>
            <a:prstDash val="solid"/>
          </a:ln>
        </p:spPr>
      </p:sp>
      <p:pic>
        <p:nvPicPr>
          <p:cNvPr id="24" name="Image 4" descr="preencoded.png"/>
          <p:cNvPicPr>
            <a:picLocks noChangeAspect="1"/>
          </p:cNvPicPr>
          <p:nvPr/>
        </p:nvPicPr>
        <p:blipFill>
          <a:blip r:embed="rId7"/>
          <a:stretch>
            <a:fillRect/>
          </a:stretch>
        </p:blipFill>
        <p:spPr>
          <a:xfrm>
            <a:off x="5913425" y="3480560"/>
            <a:ext cx="365760" cy="365760"/>
          </a:xfrm>
          <a:prstGeom prst="rect">
            <a:avLst/>
          </a:prstGeom>
        </p:spPr>
      </p:pic>
      <p:sp>
        <p:nvSpPr>
          <p:cNvPr id="25" name="Text 18"/>
          <p:cNvSpPr txBox="1"/>
          <p:nvPr/>
        </p:nvSpPr>
        <p:spPr>
          <a:xfrm>
            <a:off x="5501945" y="3872584"/>
            <a:ext cx="118872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Riya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6888175" cy="731520"/>
          </a:xfrm>
          <a:prstGeom prst="rect">
            <a:avLst/>
          </a:prstGeom>
          <a:noFill/>
          <a:ln>
            <a:solidFill>
              <a:schemeClr val="bg1"/>
            </a:solidFill>
          </a:ln>
        </p:spPr>
        <p:txBody>
          <a:bodyPr wrap="square" lIns="0" tIns="0" rIns="0" bIns="0" rtlCol="0" anchor="ctr"/>
          <a:lstStyle/>
          <a:p>
            <a:pPr marL="0" indent="0">
              <a:buNone/>
            </a:pPr>
            <a:r>
              <a:rPr lang="en-US" sz="3400" b="1" u="sng" dirty="0">
                <a:solidFill>
                  <a:srgbClr val="2A1A3D"/>
                </a:solidFill>
                <a:latin typeface="Cambria" pitchFamily="34" charset="0"/>
                <a:ea typeface="Cambria" pitchFamily="34" charset="-122"/>
                <a:cs typeface="Cambria" pitchFamily="34" charset="-120"/>
              </a:rPr>
              <a:t>Pains and gains shape every order</a:t>
            </a:r>
            <a:endParaRPr lang="en-US" sz="3400" u="sng" dirty="0"/>
          </a:p>
        </p:txBody>
      </p:sp>
      <p:sp>
        <p:nvSpPr>
          <p:cNvPr id="3" name="Shape 1"/>
          <p:cNvSpPr/>
          <p:nvPr/>
        </p:nvSpPr>
        <p:spPr>
          <a:xfrm>
            <a:off x="548640" y="1371600"/>
            <a:ext cx="5394960" cy="4846320"/>
          </a:xfrm>
          <a:prstGeom prst="roundRect">
            <a:avLst>
              <a:gd name="adj" fmla="val 9182"/>
            </a:avLst>
          </a:prstGeom>
          <a:solidFill>
            <a:srgbClr val="FDECE8"/>
          </a:solidFill>
          <a:ln w="6350">
            <a:solidFill>
              <a:schemeClr val="tx1"/>
            </a:solidFill>
            <a:prstDash val="solid"/>
          </a:ln>
        </p:spPr>
      </p:sp>
      <p:sp>
        <p:nvSpPr>
          <p:cNvPr id="4" name="Shape 2"/>
          <p:cNvSpPr/>
          <p:nvPr/>
        </p:nvSpPr>
        <p:spPr>
          <a:xfrm>
            <a:off x="868680" y="1645920"/>
            <a:ext cx="640080" cy="640080"/>
          </a:xfrm>
          <a:prstGeom prst="ellipse">
            <a:avLst/>
          </a:prstGeom>
          <a:solidFill>
            <a:srgbClr val="E23B1F"/>
          </a:solidFill>
          <a:ln w="6350">
            <a:solidFill>
              <a:srgbClr val="E23B1F"/>
            </a:solidFill>
            <a:prstDash val="solid"/>
          </a:ln>
        </p:spPr>
      </p:sp>
      <p:pic>
        <p:nvPicPr>
          <p:cNvPr id="5" name="Image 0" descr="preencoded.png"/>
          <p:cNvPicPr>
            <a:picLocks noChangeAspect="1"/>
          </p:cNvPicPr>
          <p:nvPr/>
        </p:nvPicPr>
        <p:blipFill>
          <a:blip r:embed="rId3"/>
          <a:stretch>
            <a:fillRect/>
          </a:stretch>
        </p:blipFill>
        <p:spPr>
          <a:xfrm>
            <a:off x="1028700" y="1805940"/>
            <a:ext cx="320040" cy="320040"/>
          </a:xfrm>
          <a:prstGeom prst="rect">
            <a:avLst/>
          </a:prstGeom>
        </p:spPr>
      </p:pic>
      <p:sp>
        <p:nvSpPr>
          <p:cNvPr id="6" name="Text 3"/>
          <p:cNvSpPr txBox="1"/>
          <p:nvPr/>
        </p:nvSpPr>
        <p:spPr>
          <a:xfrm>
            <a:off x="1737360" y="1627632"/>
            <a:ext cx="3931920" cy="676656"/>
          </a:xfrm>
          <a:prstGeom prst="rect">
            <a:avLst/>
          </a:prstGeom>
          <a:noFill/>
          <a:ln/>
        </p:spPr>
        <p:txBody>
          <a:bodyPr wrap="square" lIns="0" tIns="0" rIns="0" bIns="0" rtlCol="0" anchor="ctr"/>
          <a:lstStyle/>
          <a:p>
            <a:pPr marL="0" indent="0">
              <a:buNone/>
            </a:pPr>
            <a:r>
              <a:rPr lang="en-US" sz="2400" b="1" dirty="0">
                <a:solidFill>
                  <a:srgbClr val="2A1A3D"/>
                </a:solidFill>
                <a:latin typeface="Cambria" pitchFamily="34" charset="0"/>
                <a:ea typeface="Cambria" pitchFamily="34" charset="-122"/>
                <a:cs typeface="Cambria" pitchFamily="34" charset="-120"/>
              </a:rPr>
              <a:t>Pains</a:t>
            </a:r>
            <a:endParaRPr lang="en-US" sz="2400" dirty="0"/>
          </a:p>
          <a:p>
            <a:pPr marL="0" indent="0">
              <a:buNone/>
            </a:pPr>
            <a:r>
              <a:rPr lang="en-US" sz="1300" dirty="0">
                <a:solidFill>
                  <a:srgbClr val="5F5773"/>
                </a:solidFill>
                <a:latin typeface="Calibri" pitchFamily="34" charset="0"/>
                <a:ea typeface="Calibri" pitchFamily="34" charset="-122"/>
                <a:cs typeface="Calibri" pitchFamily="34" charset="-120"/>
              </a:rPr>
              <a:t>What gets in her way</a:t>
            </a:r>
            <a:endParaRPr lang="en-US" sz="2400" dirty="0"/>
          </a:p>
        </p:txBody>
      </p:sp>
      <p:sp>
        <p:nvSpPr>
          <p:cNvPr id="7" name="Shape 4"/>
          <p:cNvSpPr/>
          <p:nvPr/>
        </p:nvSpPr>
        <p:spPr>
          <a:xfrm>
            <a:off x="914400" y="2688336"/>
            <a:ext cx="310896" cy="310896"/>
          </a:xfrm>
          <a:prstGeom prst="ellipse">
            <a:avLst/>
          </a:prstGeom>
          <a:solidFill>
            <a:srgbClr val="E23B1F"/>
          </a:solidFill>
          <a:ln w="6350">
            <a:solidFill>
              <a:srgbClr val="E23B1F"/>
            </a:solidFill>
            <a:prstDash val="solid"/>
          </a:ln>
        </p:spPr>
      </p:sp>
      <p:pic>
        <p:nvPicPr>
          <p:cNvPr id="8" name="Image 1" descr="preencoded.png"/>
          <p:cNvPicPr>
            <a:picLocks noChangeAspect="1"/>
          </p:cNvPicPr>
          <p:nvPr/>
        </p:nvPicPr>
        <p:blipFill>
          <a:blip r:embed="rId4"/>
          <a:stretch>
            <a:fillRect/>
          </a:stretch>
        </p:blipFill>
        <p:spPr>
          <a:xfrm>
            <a:off x="996696" y="2770632"/>
            <a:ext cx="146304" cy="146304"/>
          </a:xfrm>
          <a:prstGeom prst="rect">
            <a:avLst/>
          </a:prstGeom>
        </p:spPr>
      </p:pic>
      <p:sp>
        <p:nvSpPr>
          <p:cNvPr id="9" name="Text 5"/>
          <p:cNvSpPr txBox="1"/>
          <p:nvPr/>
        </p:nvSpPr>
        <p:spPr>
          <a:xfrm>
            <a:off x="1417320" y="2606040"/>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Hidden fees and surprise charges at checkout</a:t>
            </a:r>
            <a:endParaRPr lang="en-US" sz="1500" dirty="0"/>
          </a:p>
        </p:txBody>
      </p:sp>
      <p:sp>
        <p:nvSpPr>
          <p:cNvPr id="10" name="Shape 6"/>
          <p:cNvSpPr/>
          <p:nvPr/>
        </p:nvSpPr>
        <p:spPr>
          <a:xfrm>
            <a:off x="914400" y="3255264"/>
            <a:ext cx="310896" cy="310896"/>
          </a:xfrm>
          <a:prstGeom prst="ellipse">
            <a:avLst/>
          </a:prstGeom>
          <a:solidFill>
            <a:srgbClr val="E23B1F"/>
          </a:solidFill>
          <a:ln w="6350">
            <a:solidFill>
              <a:srgbClr val="E23B1F"/>
            </a:solidFill>
            <a:prstDash val="solid"/>
          </a:ln>
        </p:spPr>
      </p:sp>
      <p:pic>
        <p:nvPicPr>
          <p:cNvPr id="11" name="Image 2" descr="preencoded.png"/>
          <p:cNvPicPr>
            <a:picLocks noChangeAspect="1"/>
          </p:cNvPicPr>
          <p:nvPr/>
        </p:nvPicPr>
        <p:blipFill>
          <a:blip r:embed="rId4"/>
          <a:stretch>
            <a:fillRect/>
          </a:stretch>
        </p:blipFill>
        <p:spPr>
          <a:xfrm>
            <a:off x="996696" y="3337560"/>
            <a:ext cx="146304" cy="146304"/>
          </a:xfrm>
          <a:prstGeom prst="rect">
            <a:avLst/>
          </a:prstGeom>
        </p:spPr>
      </p:pic>
      <p:sp>
        <p:nvSpPr>
          <p:cNvPr id="12" name="Text 7"/>
          <p:cNvSpPr txBox="1"/>
          <p:nvPr/>
        </p:nvSpPr>
        <p:spPr>
          <a:xfrm>
            <a:off x="1417320" y="3172968"/>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ETAs that keep changing, with no proactive updates</a:t>
            </a:r>
            <a:endParaRPr lang="en-US" sz="1500" dirty="0"/>
          </a:p>
        </p:txBody>
      </p:sp>
      <p:sp>
        <p:nvSpPr>
          <p:cNvPr id="13" name="Shape 8"/>
          <p:cNvSpPr/>
          <p:nvPr/>
        </p:nvSpPr>
        <p:spPr>
          <a:xfrm>
            <a:off x="914400" y="3822192"/>
            <a:ext cx="310896" cy="310896"/>
          </a:xfrm>
          <a:prstGeom prst="ellipse">
            <a:avLst/>
          </a:prstGeom>
          <a:solidFill>
            <a:srgbClr val="E23B1F"/>
          </a:solidFill>
          <a:ln w="6350">
            <a:solidFill>
              <a:srgbClr val="E23B1F"/>
            </a:solidFill>
            <a:prstDash val="solid"/>
          </a:ln>
        </p:spPr>
      </p:sp>
      <p:pic>
        <p:nvPicPr>
          <p:cNvPr id="14" name="Image 3" descr="preencoded.png"/>
          <p:cNvPicPr>
            <a:picLocks noChangeAspect="1"/>
          </p:cNvPicPr>
          <p:nvPr/>
        </p:nvPicPr>
        <p:blipFill>
          <a:blip r:embed="rId4"/>
          <a:stretch>
            <a:fillRect/>
          </a:stretch>
        </p:blipFill>
        <p:spPr>
          <a:xfrm>
            <a:off x="996696" y="3904488"/>
            <a:ext cx="146304" cy="146304"/>
          </a:xfrm>
          <a:prstGeom prst="rect">
            <a:avLst/>
          </a:prstGeom>
        </p:spPr>
      </p:pic>
      <p:sp>
        <p:nvSpPr>
          <p:cNvPr id="15" name="Text 9"/>
          <p:cNvSpPr txBox="1"/>
          <p:nvPr/>
        </p:nvSpPr>
        <p:spPr>
          <a:xfrm>
            <a:off x="1417320" y="3739896"/>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Wrong, missing or cold items</a:t>
            </a:r>
            <a:endParaRPr lang="en-US" sz="1500" dirty="0"/>
          </a:p>
        </p:txBody>
      </p:sp>
      <p:sp>
        <p:nvSpPr>
          <p:cNvPr id="16" name="Shape 10"/>
          <p:cNvSpPr/>
          <p:nvPr/>
        </p:nvSpPr>
        <p:spPr>
          <a:xfrm>
            <a:off x="914400" y="4389120"/>
            <a:ext cx="310896" cy="310896"/>
          </a:xfrm>
          <a:prstGeom prst="ellipse">
            <a:avLst/>
          </a:prstGeom>
          <a:solidFill>
            <a:srgbClr val="E23B1F"/>
          </a:solidFill>
          <a:ln w="6350">
            <a:solidFill>
              <a:srgbClr val="E23B1F"/>
            </a:solidFill>
            <a:prstDash val="solid"/>
          </a:ln>
        </p:spPr>
      </p:sp>
      <p:pic>
        <p:nvPicPr>
          <p:cNvPr id="17" name="Image 4" descr="preencoded.png"/>
          <p:cNvPicPr>
            <a:picLocks noChangeAspect="1"/>
          </p:cNvPicPr>
          <p:nvPr/>
        </p:nvPicPr>
        <p:blipFill>
          <a:blip r:embed="rId4"/>
          <a:stretch>
            <a:fillRect/>
          </a:stretch>
        </p:blipFill>
        <p:spPr>
          <a:xfrm>
            <a:off x="996696" y="4471416"/>
            <a:ext cx="146304" cy="146304"/>
          </a:xfrm>
          <a:prstGeom prst="rect">
            <a:avLst/>
          </a:prstGeom>
        </p:spPr>
      </p:pic>
      <p:sp>
        <p:nvSpPr>
          <p:cNvPr id="18" name="Text 11"/>
          <p:cNvSpPr txBox="1"/>
          <p:nvPr/>
        </p:nvSpPr>
        <p:spPr>
          <a:xfrm>
            <a:off x="1417320" y="4306824"/>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Slow refunds and chatbot-only support</a:t>
            </a:r>
            <a:endParaRPr lang="en-US" sz="1500" dirty="0"/>
          </a:p>
        </p:txBody>
      </p:sp>
      <p:sp>
        <p:nvSpPr>
          <p:cNvPr id="19" name="Shape 12"/>
          <p:cNvSpPr/>
          <p:nvPr/>
        </p:nvSpPr>
        <p:spPr>
          <a:xfrm>
            <a:off x="914400" y="4956048"/>
            <a:ext cx="310896" cy="310896"/>
          </a:xfrm>
          <a:prstGeom prst="ellipse">
            <a:avLst/>
          </a:prstGeom>
          <a:solidFill>
            <a:srgbClr val="E23B1F"/>
          </a:solidFill>
          <a:ln w="6350">
            <a:solidFill>
              <a:srgbClr val="E23B1F"/>
            </a:solidFill>
            <a:prstDash val="solid"/>
          </a:ln>
        </p:spPr>
      </p:sp>
      <p:pic>
        <p:nvPicPr>
          <p:cNvPr id="20" name="Image 5" descr="preencoded.png"/>
          <p:cNvPicPr>
            <a:picLocks noChangeAspect="1"/>
          </p:cNvPicPr>
          <p:nvPr/>
        </p:nvPicPr>
        <p:blipFill>
          <a:blip r:embed="rId4"/>
          <a:stretch>
            <a:fillRect/>
          </a:stretch>
        </p:blipFill>
        <p:spPr>
          <a:xfrm>
            <a:off x="996696" y="5038344"/>
            <a:ext cx="146304" cy="146304"/>
          </a:xfrm>
          <a:prstGeom prst="rect">
            <a:avLst/>
          </a:prstGeom>
        </p:spPr>
      </p:pic>
      <p:sp>
        <p:nvSpPr>
          <p:cNvPr id="21" name="Text 13"/>
          <p:cNvSpPr txBox="1"/>
          <p:nvPr/>
        </p:nvSpPr>
        <p:spPr>
          <a:xfrm>
            <a:off x="1417320" y="4873752"/>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Promo overload and coupons that won’t apply</a:t>
            </a:r>
            <a:endParaRPr lang="en-US" sz="1500" dirty="0"/>
          </a:p>
        </p:txBody>
      </p:sp>
      <p:sp>
        <p:nvSpPr>
          <p:cNvPr id="22" name="Shape 14"/>
          <p:cNvSpPr/>
          <p:nvPr/>
        </p:nvSpPr>
        <p:spPr>
          <a:xfrm>
            <a:off x="914400" y="5522976"/>
            <a:ext cx="310896" cy="310896"/>
          </a:xfrm>
          <a:prstGeom prst="ellipse">
            <a:avLst/>
          </a:prstGeom>
          <a:solidFill>
            <a:srgbClr val="E23B1F"/>
          </a:solidFill>
          <a:ln w="6350">
            <a:solidFill>
              <a:srgbClr val="E23B1F"/>
            </a:solidFill>
            <a:prstDash val="solid"/>
          </a:ln>
        </p:spPr>
      </p:sp>
      <p:pic>
        <p:nvPicPr>
          <p:cNvPr id="23" name="Image 6" descr="preencoded.png"/>
          <p:cNvPicPr>
            <a:picLocks noChangeAspect="1"/>
          </p:cNvPicPr>
          <p:nvPr/>
        </p:nvPicPr>
        <p:blipFill>
          <a:blip r:embed="rId4"/>
          <a:stretch>
            <a:fillRect/>
          </a:stretch>
        </p:blipFill>
        <p:spPr>
          <a:xfrm>
            <a:off x="996696" y="5605272"/>
            <a:ext cx="146304" cy="146304"/>
          </a:xfrm>
          <a:prstGeom prst="rect">
            <a:avLst/>
          </a:prstGeom>
        </p:spPr>
      </p:pic>
      <p:sp>
        <p:nvSpPr>
          <p:cNvPr id="24" name="Text 15"/>
          <p:cNvSpPr txBox="1"/>
          <p:nvPr/>
        </p:nvSpPr>
        <p:spPr>
          <a:xfrm>
            <a:off x="1417320" y="5440680"/>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Payment failures at the very last step</a:t>
            </a:r>
            <a:endParaRPr lang="en-US" sz="1500" dirty="0"/>
          </a:p>
        </p:txBody>
      </p:sp>
      <p:sp>
        <p:nvSpPr>
          <p:cNvPr id="25" name="Shape 16"/>
          <p:cNvSpPr/>
          <p:nvPr/>
        </p:nvSpPr>
        <p:spPr>
          <a:xfrm>
            <a:off x="6248095" y="1371600"/>
            <a:ext cx="5394960" cy="4846320"/>
          </a:xfrm>
          <a:prstGeom prst="roundRect">
            <a:avLst>
              <a:gd name="adj" fmla="val 8711"/>
            </a:avLst>
          </a:prstGeom>
          <a:solidFill>
            <a:srgbClr val="E4F5EF"/>
          </a:solidFill>
          <a:ln w="6350">
            <a:solidFill>
              <a:schemeClr val="tx1"/>
            </a:solidFill>
            <a:prstDash val="solid"/>
          </a:ln>
        </p:spPr>
      </p:sp>
      <p:sp>
        <p:nvSpPr>
          <p:cNvPr id="26" name="Shape 17"/>
          <p:cNvSpPr/>
          <p:nvPr/>
        </p:nvSpPr>
        <p:spPr>
          <a:xfrm>
            <a:off x="6568135" y="1645920"/>
            <a:ext cx="640080" cy="640080"/>
          </a:xfrm>
          <a:prstGeom prst="ellipse">
            <a:avLst/>
          </a:prstGeom>
          <a:solidFill>
            <a:srgbClr val="0B8F6D"/>
          </a:solidFill>
          <a:ln w="6350">
            <a:solidFill>
              <a:srgbClr val="0B8F6D"/>
            </a:solidFill>
            <a:prstDash val="solid"/>
          </a:ln>
        </p:spPr>
      </p:sp>
      <p:pic>
        <p:nvPicPr>
          <p:cNvPr id="27" name="Image 7" descr="preencoded.png"/>
          <p:cNvPicPr>
            <a:picLocks noChangeAspect="1"/>
          </p:cNvPicPr>
          <p:nvPr/>
        </p:nvPicPr>
        <p:blipFill>
          <a:blip r:embed="rId5"/>
          <a:stretch>
            <a:fillRect/>
          </a:stretch>
        </p:blipFill>
        <p:spPr>
          <a:xfrm>
            <a:off x="6728155" y="1805940"/>
            <a:ext cx="320040" cy="320040"/>
          </a:xfrm>
          <a:prstGeom prst="rect">
            <a:avLst/>
          </a:prstGeom>
        </p:spPr>
      </p:pic>
      <p:sp>
        <p:nvSpPr>
          <p:cNvPr id="28" name="Text 18"/>
          <p:cNvSpPr txBox="1"/>
          <p:nvPr/>
        </p:nvSpPr>
        <p:spPr>
          <a:xfrm>
            <a:off x="7436815" y="1627632"/>
            <a:ext cx="3931920" cy="676656"/>
          </a:xfrm>
          <a:prstGeom prst="rect">
            <a:avLst/>
          </a:prstGeom>
          <a:noFill/>
          <a:ln/>
        </p:spPr>
        <p:txBody>
          <a:bodyPr wrap="square" lIns="0" tIns="0" rIns="0" bIns="0" rtlCol="0" anchor="ctr"/>
          <a:lstStyle/>
          <a:p>
            <a:pPr marL="0" indent="0">
              <a:buNone/>
            </a:pPr>
            <a:r>
              <a:rPr lang="en-US" sz="2400" b="1" dirty="0">
                <a:solidFill>
                  <a:srgbClr val="2A1A3D"/>
                </a:solidFill>
                <a:latin typeface="Cambria" pitchFamily="34" charset="0"/>
                <a:ea typeface="Cambria" pitchFamily="34" charset="-122"/>
                <a:cs typeface="Cambria" pitchFamily="34" charset="-120"/>
              </a:rPr>
              <a:t>Gains</a:t>
            </a:r>
            <a:endParaRPr lang="en-US" sz="2400" dirty="0"/>
          </a:p>
          <a:p>
            <a:pPr marL="0" indent="0">
              <a:buNone/>
            </a:pPr>
            <a:r>
              <a:rPr lang="en-US" sz="1300" dirty="0">
                <a:solidFill>
                  <a:srgbClr val="5F5773"/>
                </a:solidFill>
                <a:latin typeface="Calibri" pitchFamily="34" charset="0"/>
                <a:ea typeface="Calibri" pitchFamily="34" charset="-122"/>
                <a:cs typeface="Calibri" pitchFamily="34" charset="-120"/>
              </a:rPr>
              <a:t>What success looks like</a:t>
            </a:r>
            <a:endParaRPr lang="en-US" sz="2400" dirty="0"/>
          </a:p>
        </p:txBody>
      </p:sp>
      <p:sp>
        <p:nvSpPr>
          <p:cNvPr id="29" name="Shape 19"/>
          <p:cNvSpPr/>
          <p:nvPr/>
        </p:nvSpPr>
        <p:spPr>
          <a:xfrm>
            <a:off x="6613855" y="2688336"/>
            <a:ext cx="310896" cy="310896"/>
          </a:xfrm>
          <a:prstGeom prst="ellipse">
            <a:avLst/>
          </a:prstGeom>
          <a:solidFill>
            <a:srgbClr val="0B8F6D"/>
          </a:solidFill>
          <a:ln w="6350">
            <a:solidFill>
              <a:srgbClr val="0B8F6D"/>
            </a:solidFill>
            <a:prstDash val="solid"/>
          </a:ln>
        </p:spPr>
      </p:sp>
      <p:pic>
        <p:nvPicPr>
          <p:cNvPr id="30" name="Image 8" descr="preencoded.png"/>
          <p:cNvPicPr>
            <a:picLocks noChangeAspect="1"/>
          </p:cNvPicPr>
          <p:nvPr/>
        </p:nvPicPr>
        <p:blipFill>
          <a:blip r:embed="rId6"/>
          <a:stretch>
            <a:fillRect/>
          </a:stretch>
        </p:blipFill>
        <p:spPr>
          <a:xfrm>
            <a:off x="6696151" y="2770632"/>
            <a:ext cx="146304" cy="146304"/>
          </a:xfrm>
          <a:prstGeom prst="rect">
            <a:avLst/>
          </a:prstGeom>
        </p:spPr>
      </p:pic>
      <p:sp>
        <p:nvSpPr>
          <p:cNvPr id="31" name="Text 20"/>
          <p:cNvSpPr txBox="1"/>
          <p:nvPr/>
        </p:nvSpPr>
        <p:spPr>
          <a:xfrm>
            <a:off x="7116775" y="2606040"/>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Fast, on-time delivery; food arrives hot</a:t>
            </a:r>
            <a:endParaRPr lang="en-US" sz="1500" dirty="0"/>
          </a:p>
        </p:txBody>
      </p:sp>
      <p:sp>
        <p:nvSpPr>
          <p:cNvPr id="32" name="Shape 21"/>
          <p:cNvSpPr/>
          <p:nvPr/>
        </p:nvSpPr>
        <p:spPr>
          <a:xfrm>
            <a:off x="6613855" y="3255264"/>
            <a:ext cx="310896" cy="310896"/>
          </a:xfrm>
          <a:prstGeom prst="ellipse">
            <a:avLst/>
          </a:prstGeom>
          <a:solidFill>
            <a:srgbClr val="0B8F6D"/>
          </a:solidFill>
          <a:ln w="6350">
            <a:solidFill>
              <a:srgbClr val="0B8F6D"/>
            </a:solidFill>
            <a:prstDash val="solid"/>
          </a:ln>
        </p:spPr>
      </p:sp>
      <p:pic>
        <p:nvPicPr>
          <p:cNvPr id="33" name="Image 9" descr="preencoded.png"/>
          <p:cNvPicPr>
            <a:picLocks noChangeAspect="1"/>
          </p:cNvPicPr>
          <p:nvPr/>
        </p:nvPicPr>
        <p:blipFill>
          <a:blip r:embed="rId6"/>
          <a:stretch>
            <a:fillRect/>
          </a:stretch>
        </p:blipFill>
        <p:spPr>
          <a:xfrm>
            <a:off x="6696151" y="3337560"/>
            <a:ext cx="146304" cy="146304"/>
          </a:xfrm>
          <a:prstGeom prst="rect">
            <a:avLst/>
          </a:prstGeom>
        </p:spPr>
      </p:pic>
      <p:sp>
        <p:nvSpPr>
          <p:cNvPr id="34" name="Text 22"/>
          <p:cNvSpPr txBox="1"/>
          <p:nvPr/>
        </p:nvSpPr>
        <p:spPr>
          <a:xfrm>
            <a:off x="7116775" y="3172968"/>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Clear, all-in pricing before checkout</a:t>
            </a:r>
            <a:endParaRPr lang="en-US" sz="1500" dirty="0"/>
          </a:p>
        </p:txBody>
      </p:sp>
      <p:sp>
        <p:nvSpPr>
          <p:cNvPr id="35" name="Shape 23"/>
          <p:cNvSpPr/>
          <p:nvPr/>
        </p:nvSpPr>
        <p:spPr>
          <a:xfrm>
            <a:off x="6613855" y="3822192"/>
            <a:ext cx="310896" cy="310896"/>
          </a:xfrm>
          <a:prstGeom prst="ellipse">
            <a:avLst/>
          </a:prstGeom>
          <a:solidFill>
            <a:srgbClr val="0B8F6D"/>
          </a:solidFill>
          <a:ln w="6350">
            <a:solidFill>
              <a:srgbClr val="0B8F6D"/>
            </a:solidFill>
            <a:prstDash val="solid"/>
          </a:ln>
        </p:spPr>
      </p:sp>
      <p:pic>
        <p:nvPicPr>
          <p:cNvPr id="36" name="Image 10" descr="preencoded.png"/>
          <p:cNvPicPr>
            <a:picLocks noChangeAspect="1"/>
          </p:cNvPicPr>
          <p:nvPr/>
        </p:nvPicPr>
        <p:blipFill>
          <a:blip r:embed="rId6"/>
          <a:stretch>
            <a:fillRect/>
          </a:stretch>
        </p:blipFill>
        <p:spPr>
          <a:xfrm>
            <a:off x="6696151" y="3904488"/>
            <a:ext cx="146304" cy="146304"/>
          </a:xfrm>
          <a:prstGeom prst="rect">
            <a:avLst/>
          </a:prstGeom>
        </p:spPr>
      </p:pic>
      <p:sp>
        <p:nvSpPr>
          <p:cNvPr id="37" name="Text 24"/>
          <p:cNvSpPr txBox="1"/>
          <p:nvPr/>
        </p:nvSpPr>
        <p:spPr>
          <a:xfrm>
            <a:off x="7116775" y="3739896"/>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Accurate live tracking and delay alerts</a:t>
            </a:r>
            <a:endParaRPr lang="en-US" sz="1500" dirty="0"/>
          </a:p>
        </p:txBody>
      </p:sp>
      <p:sp>
        <p:nvSpPr>
          <p:cNvPr id="38" name="Shape 25"/>
          <p:cNvSpPr/>
          <p:nvPr/>
        </p:nvSpPr>
        <p:spPr>
          <a:xfrm>
            <a:off x="6613855" y="4389120"/>
            <a:ext cx="310896" cy="310896"/>
          </a:xfrm>
          <a:prstGeom prst="ellipse">
            <a:avLst/>
          </a:prstGeom>
          <a:solidFill>
            <a:srgbClr val="0B8F6D"/>
          </a:solidFill>
          <a:ln w="6350">
            <a:solidFill>
              <a:srgbClr val="0B8F6D"/>
            </a:solidFill>
            <a:prstDash val="solid"/>
          </a:ln>
        </p:spPr>
      </p:sp>
      <p:pic>
        <p:nvPicPr>
          <p:cNvPr id="39" name="Image 11" descr="preencoded.png"/>
          <p:cNvPicPr>
            <a:picLocks noChangeAspect="1"/>
          </p:cNvPicPr>
          <p:nvPr/>
        </p:nvPicPr>
        <p:blipFill>
          <a:blip r:embed="rId6"/>
          <a:stretch>
            <a:fillRect/>
          </a:stretch>
        </p:blipFill>
        <p:spPr>
          <a:xfrm>
            <a:off x="6696151" y="4471416"/>
            <a:ext cx="146304" cy="146304"/>
          </a:xfrm>
          <a:prstGeom prst="rect">
            <a:avLst/>
          </a:prstGeom>
        </p:spPr>
      </p:pic>
      <p:sp>
        <p:nvSpPr>
          <p:cNvPr id="40" name="Text 26"/>
          <p:cNvSpPr txBox="1"/>
          <p:nvPr/>
        </p:nvSpPr>
        <p:spPr>
          <a:xfrm>
            <a:off x="7116775" y="4306824"/>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Two-tap reorder of favourites</a:t>
            </a:r>
            <a:endParaRPr lang="en-US" sz="1500" dirty="0"/>
          </a:p>
        </p:txBody>
      </p:sp>
      <p:sp>
        <p:nvSpPr>
          <p:cNvPr id="41" name="Shape 27"/>
          <p:cNvSpPr/>
          <p:nvPr/>
        </p:nvSpPr>
        <p:spPr>
          <a:xfrm>
            <a:off x="6613855" y="4956048"/>
            <a:ext cx="310896" cy="310896"/>
          </a:xfrm>
          <a:prstGeom prst="ellipse">
            <a:avLst/>
          </a:prstGeom>
          <a:solidFill>
            <a:srgbClr val="0B8F6D"/>
          </a:solidFill>
          <a:ln w="6350">
            <a:solidFill>
              <a:srgbClr val="0B8F6D"/>
            </a:solidFill>
            <a:prstDash val="solid"/>
          </a:ln>
        </p:spPr>
      </p:sp>
      <p:pic>
        <p:nvPicPr>
          <p:cNvPr id="42" name="Image 12" descr="preencoded.png"/>
          <p:cNvPicPr>
            <a:picLocks noChangeAspect="1"/>
          </p:cNvPicPr>
          <p:nvPr/>
        </p:nvPicPr>
        <p:blipFill>
          <a:blip r:embed="rId6"/>
          <a:stretch>
            <a:fillRect/>
          </a:stretch>
        </p:blipFill>
        <p:spPr>
          <a:xfrm>
            <a:off x="6696151" y="5038344"/>
            <a:ext cx="146304" cy="146304"/>
          </a:xfrm>
          <a:prstGeom prst="rect">
            <a:avLst/>
          </a:prstGeom>
        </p:spPr>
      </p:pic>
      <p:sp>
        <p:nvSpPr>
          <p:cNvPr id="43" name="Text 28"/>
          <p:cNvSpPr txBox="1"/>
          <p:nvPr/>
        </p:nvSpPr>
        <p:spPr>
          <a:xfrm>
            <a:off x="7116775" y="4873752"/>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Instant, fair refunds when things go wrong</a:t>
            </a:r>
            <a:endParaRPr lang="en-US" sz="1500" dirty="0"/>
          </a:p>
        </p:txBody>
      </p:sp>
      <p:sp>
        <p:nvSpPr>
          <p:cNvPr id="44" name="Shape 29"/>
          <p:cNvSpPr/>
          <p:nvPr/>
        </p:nvSpPr>
        <p:spPr>
          <a:xfrm>
            <a:off x="6613855" y="5522976"/>
            <a:ext cx="310896" cy="310896"/>
          </a:xfrm>
          <a:prstGeom prst="ellipse">
            <a:avLst/>
          </a:prstGeom>
          <a:solidFill>
            <a:srgbClr val="0B8F6D"/>
          </a:solidFill>
          <a:ln w="6350">
            <a:solidFill>
              <a:srgbClr val="0B8F6D"/>
            </a:solidFill>
            <a:prstDash val="solid"/>
          </a:ln>
        </p:spPr>
      </p:sp>
      <p:pic>
        <p:nvPicPr>
          <p:cNvPr id="45" name="Image 13" descr="preencoded.png"/>
          <p:cNvPicPr>
            <a:picLocks noChangeAspect="1"/>
          </p:cNvPicPr>
          <p:nvPr/>
        </p:nvPicPr>
        <p:blipFill>
          <a:blip r:embed="rId6"/>
          <a:stretch>
            <a:fillRect/>
          </a:stretch>
        </p:blipFill>
        <p:spPr>
          <a:xfrm>
            <a:off x="6696151" y="5605272"/>
            <a:ext cx="146304" cy="146304"/>
          </a:xfrm>
          <a:prstGeom prst="rect">
            <a:avLst/>
          </a:prstGeom>
        </p:spPr>
      </p:pic>
      <p:sp>
        <p:nvSpPr>
          <p:cNvPr id="46" name="Text 30"/>
          <p:cNvSpPr txBox="1"/>
          <p:nvPr/>
        </p:nvSpPr>
        <p:spPr>
          <a:xfrm>
            <a:off x="7116775" y="5440680"/>
            <a:ext cx="4206240" cy="475488"/>
          </a:xfrm>
          <a:prstGeom prst="rect">
            <a:avLst/>
          </a:prstGeom>
          <a:noFill/>
          <a:ln/>
        </p:spPr>
        <p:txBody>
          <a:bodyPr wrap="square" lIns="0" tIns="0" rIns="0" bIns="0" rtlCol="0" anchor="ctr"/>
          <a:lstStyle/>
          <a:p>
            <a:pPr marL="0" indent="0">
              <a:buNone/>
            </a:pPr>
            <a:r>
              <a:rPr lang="en-US" sz="1500" dirty="0">
                <a:solidFill>
                  <a:srgbClr val="2A1A3D"/>
                </a:solidFill>
                <a:latin typeface="Calibri" pitchFamily="34" charset="0"/>
                <a:ea typeface="Calibri" pitchFamily="34" charset="-122"/>
                <a:cs typeface="Calibri" pitchFamily="34" charset="-120"/>
              </a:rPr>
              <a:t>Rewards that feel worth having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400" b="1" u="sng" dirty="0">
                <a:solidFill>
                  <a:srgbClr val="2A1A3D"/>
                </a:solidFill>
                <a:latin typeface="Cambria" pitchFamily="34" charset="0"/>
                <a:ea typeface="Cambria" pitchFamily="34" charset="-122"/>
                <a:cs typeface="Cambria" pitchFamily="34" charset="-120"/>
              </a:rPr>
              <a:t>What Riya needs from Toing</a:t>
            </a:r>
            <a:endParaRPr lang="en-US" sz="3400" u="sng" dirty="0"/>
          </a:p>
        </p:txBody>
      </p:sp>
      <p:sp>
        <p:nvSpPr>
          <p:cNvPr id="3" name="Shape 1"/>
          <p:cNvSpPr/>
          <p:nvPr/>
        </p:nvSpPr>
        <p:spPr>
          <a:xfrm>
            <a:off x="548640" y="1348740"/>
            <a:ext cx="3514954" cy="2331720"/>
          </a:xfrm>
          <a:prstGeom prst="roundRect">
            <a:avLst>
              <a:gd name="adj" fmla="val 19102"/>
            </a:avLst>
          </a:prstGeom>
          <a:solidFill>
            <a:srgbClr val="F4F1F9"/>
          </a:solidFill>
          <a:ln w="6350">
            <a:solidFill>
              <a:srgbClr val="F4F1F9"/>
            </a:solidFill>
            <a:prstDash val="solid"/>
          </a:ln>
        </p:spPr>
      </p:sp>
      <p:sp>
        <p:nvSpPr>
          <p:cNvPr id="4" name="Shape 2"/>
          <p:cNvSpPr/>
          <p:nvPr/>
        </p:nvSpPr>
        <p:spPr>
          <a:xfrm>
            <a:off x="822960" y="1645920"/>
            <a:ext cx="640080" cy="640080"/>
          </a:xfrm>
          <a:prstGeom prst="ellipse">
            <a:avLst/>
          </a:prstGeom>
          <a:solidFill>
            <a:srgbClr val="2A1A3D"/>
          </a:solidFill>
          <a:ln w="6350">
            <a:solidFill>
              <a:srgbClr val="2A1A3D"/>
            </a:solidFill>
            <a:prstDash val="solid"/>
          </a:ln>
        </p:spPr>
      </p:sp>
      <p:pic>
        <p:nvPicPr>
          <p:cNvPr id="5" name="Image 0" descr="preencoded.png"/>
          <p:cNvPicPr>
            <a:picLocks noChangeAspect="1"/>
          </p:cNvPicPr>
          <p:nvPr/>
        </p:nvPicPr>
        <p:blipFill>
          <a:blip r:embed="rId3"/>
          <a:stretch>
            <a:fillRect/>
          </a:stretch>
        </p:blipFill>
        <p:spPr>
          <a:xfrm>
            <a:off x="982980" y="1805940"/>
            <a:ext cx="320040" cy="320040"/>
          </a:xfrm>
          <a:prstGeom prst="rect">
            <a:avLst/>
          </a:prstGeom>
        </p:spPr>
      </p:pic>
      <p:sp>
        <p:nvSpPr>
          <p:cNvPr id="6" name="Text 3"/>
          <p:cNvSpPr txBox="1"/>
          <p:nvPr/>
        </p:nvSpPr>
        <p:spPr>
          <a:xfrm>
            <a:off x="1645920" y="1645920"/>
            <a:ext cx="2234794" cy="640080"/>
          </a:xfrm>
          <a:prstGeom prst="rect">
            <a:avLst/>
          </a:prstGeom>
          <a:noFill/>
          <a:ln/>
        </p:spPr>
        <p:txBody>
          <a:bodyPr wrap="square" lIns="0" tIns="0" rIns="0" bIns="0" rtlCol="0" anchor="ctr"/>
          <a:lstStyle/>
          <a:p>
            <a:pPr marL="0" indent="0">
              <a:buNone/>
            </a:pPr>
            <a:r>
              <a:rPr lang="en-US" sz="1800" b="1" dirty="0">
                <a:solidFill>
                  <a:srgbClr val="2A1A3D"/>
                </a:solidFill>
                <a:latin typeface="Cambria" pitchFamily="34" charset="0"/>
                <a:ea typeface="Cambria" pitchFamily="34" charset="-122"/>
                <a:cs typeface="Cambria" pitchFamily="34" charset="-120"/>
              </a:rPr>
              <a:t>Speed and reliability</a:t>
            </a:r>
            <a:endParaRPr lang="en-US" sz="1800" dirty="0"/>
          </a:p>
        </p:txBody>
      </p:sp>
      <p:sp>
        <p:nvSpPr>
          <p:cNvPr id="7" name="Text 4"/>
          <p:cNvSpPr txBox="1"/>
          <p:nvPr/>
        </p:nvSpPr>
        <p:spPr>
          <a:xfrm>
            <a:off x="822960" y="2514600"/>
            <a:ext cx="2966314" cy="1005840"/>
          </a:xfrm>
          <a:prstGeom prst="rect">
            <a:avLst/>
          </a:prstGeom>
          <a:noFill/>
          <a:ln/>
        </p:spPr>
        <p:txBody>
          <a:bodyPr wrap="square" lIns="0" tIns="0" rIns="0" bIns="0" rtlCol="0" anchor="t"/>
          <a:lstStyle/>
          <a:p>
            <a:pPr marL="0" indent="0">
              <a:buNone/>
            </a:pPr>
            <a:r>
              <a:rPr lang="en-US" sz="1600" b="1" dirty="0">
                <a:solidFill>
                  <a:srgbClr val="E23B1F"/>
                </a:solidFill>
                <a:latin typeface="Calibri" pitchFamily="34" charset="0"/>
                <a:ea typeface="Calibri" pitchFamily="34" charset="-122"/>
                <a:cs typeface="Calibri" pitchFamily="34" charset="-120"/>
              </a:rPr>
              <a:t>Riya needs </a:t>
            </a:r>
            <a:r>
              <a:rPr lang="en-US" sz="1600" dirty="0">
                <a:solidFill>
                  <a:srgbClr val="2A1A3D"/>
                </a:solidFill>
                <a:latin typeface="Calibri" pitchFamily="34" charset="0"/>
                <a:ea typeface="Calibri" pitchFamily="34" charset="-122"/>
                <a:cs typeface="Calibri" pitchFamily="34" charset="-120"/>
              </a:rPr>
              <a:t>food that arrives on time, hot, and exactly as ordered.</a:t>
            </a:r>
            <a:endParaRPr lang="en-US" sz="1600" dirty="0"/>
          </a:p>
        </p:txBody>
      </p:sp>
      <p:sp>
        <p:nvSpPr>
          <p:cNvPr id="8" name="Shape 5"/>
          <p:cNvSpPr/>
          <p:nvPr/>
        </p:nvSpPr>
        <p:spPr>
          <a:xfrm>
            <a:off x="4337914" y="1371600"/>
            <a:ext cx="3514954" cy="2331720"/>
          </a:xfrm>
          <a:prstGeom prst="roundRect">
            <a:avLst>
              <a:gd name="adj" fmla="val 19101"/>
            </a:avLst>
          </a:prstGeom>
          <a:solidFill>
            <a:srgbClr val="F4F1F9"/>
          </a:solidFill>
          <a:ln w="6350">
            <a:solidFill>
              <a:srgbClr val="F4F1F9"/>
            </a:solidFill>
            <a:prstDash val="solid"/>
          </a:ln>
        </p:spPr>
      </p:sp>
      <p:sp>
        <p:nvSpPr>
          <p:cNvPr id="9" name="Shape 6"/>
          <p:cNvSpPr/>
          <p:nvPr/>
        </p:nvSpPr>
        <p:spPr>
          <a:xfrm>
            <a:off x="4612234" y="1645920"/>
            <a:ext cx="640080" cy="640080"/>
          </a:xfrm>
          <a:prstGeom prst="ellipse">
            <a:avLst/>
          </a:prstGeom>
          <a:solidFill>
            <a:srgbClr val="2A1A3D"/>
          </a:solidFill>
          <a:ln w="6350">
            <a:solidFill>
              <a:srgbClr val="2A1A3D"/>
            </a:solidFill>
            <a:prstDash val="solid"/>
          </a:ln>
        </p:spPr>
      </p:sp>
      <p:pic>
        <p:nvPicPr>
          <p:cNvPr id="10" name="Image 1" descr="preencoded.png"/>
          <p:cNvPicPr>
            <a:picLocks noChangeAspect="1"/>
          </p:cNvPicPr>
          <p:nvPr/>
        </p:nvPicPr>
        <p:blipFill>
          <a:blip r:embed="rId4"/>
          <a:stretch>
            <a:fillRect/>
          </a:stretch>
        </p:blipFill>
        <p:spPr>
          <a:xfrm>
            <a:off x="4772254" y="1805940"/>
            <a:ext cx="320040" cy="320040"/>
          </a:xfrm>
          <a:prstGeom prst="rect">
            <a:avLst/>
          </a:prstGeom>
        </p:spPr>
      </p:pic>
      <p:sp>
        <p:nvSpPr>
          <p:cNvPr id="11" name="Text 7"/>
          <p:cNvSpPr txBox="1"/>
          <p:nvPr/>
        </p:nvSpPr>
        <p:spPr>
          <a:xfrm>
            <a:off x="5435194" y="1645920"/>
            <a:ext cx="2234794" cy="640080"/>
          </a:xfrm>
          <a:prstGeom prst="rect">
            <a:avLst/>
          </a:prstGeom>
          <a:noFill/>
          <a:ln/>
        </p:spPr>
        <p:txBody>
          <a:bodyPr wrap="square" lIns="0" tIns="0" rIns="0" bIns="0" rtlCol="0" anchor="ctr"/>
          <a:lstStyle/>
          <a:p>
            <a:pPr marL="0" indent="0">
              <a:buNone/>
            </a:pPr>
            <a:r>
              <a:rPr lang="en-US" sz="1800" b="1" dirty="0">
                <a:solidFill>
                  <a:srgbClr val="2A1A3D"/>
                </a:solidFill>
                <a:latin typeface="Cambria" pitchFamily="34" charset="0"/>
                <a:ea typeface="Cambria" pitchFamily="34" charset="-122"/>
                <a:cs typeface="Cambria" pitchFamily="34" charset="-120"/>
              </a:rPr>
              <a:t>Price transparency</a:t>
            </a:r>
            <a:endParaRPr lang="en-US" sz="1800" dirty="0"/>
          </a:p>
        </p:txBody>
      </p:sp>
      <p:sp>
        <p:nvSpPr>
          <p:cNvPr id="12" name="Text 8"/>
          <p:cNvSpPr txBox="1"/>
          <p:nvPr/>
        </p:nvSpPr>
        <p:spPr>
          <a:xfrm>
            <a:off x="4612234" y="2514600"/>
            <a:ext cx="2966314" cy="1005840"/>
          </a:xfrm>
          <a:prstGeom prst="rect">
            <a:avLst/>
          </a:prstGeom>
          <a:noFill/>
          <a:ln/>
        </p:spPr>
        <p:txBody>
          <a:bodyPr wrap="square" lIns="0" tIns="0" rIns="0" bIns="0" rtlCol="0" anchor="t"/>
          <a:lstStyle/>
          <a:p>
            <a:pPr marL="0" indent="0">
              <a:buNone/>
            </a:pPr>
            <a:r>
              <a:rPr lang="en-US" sz="1600" b="1" dirty="0">
                <a:solidFill>
                  <a:srgbClr val="E23B1F"/>
                </a:solidFill>
                <a:latin typeface="Calibri" pitchFamily="34" charset="0"/>
                <a:ea typeface="Calibri" pitchFamily="34" charset="-122"/>
                <a:cs typeface="Calibri" pitchFamily="34" charset="-120"/>
              </a:rPr>
              <a:t>Riya needs </a:t>
            </a:r>
            <a:r>
              <a:rPr lang="en-US" sz="1600" dirty="0">
                <a:solidFill>
                  <a:srgbClr val="2A1A3D"/>
                </a:solidFill>
                <a:latin typeface="Calibri" pitchFamily="34" charset="0"/>
                <a:ea typeface="Calibri" pitchFamily="34" charset="-122"/>
                <a:cs typeface="Calibri" pitchFamily="34" charset="-120"/>
              </a:rPr>
              <a:t>the full cost, including fees, taxes and tip, before she commits.</a:t>
            </a:r>
            <a:endParaRPr lang="en-US" sz="1600" dirty="0"/>
          </a:p>
        </p:txBody>
      </p:sp>
      <p:sp>
        <p:nvSpPr>
          <p:cNvPr id="13" name="Shape 9"/>
          <p:cNvSpPr/>
          <p:nvPr/>
        </p:nvSpPr>
        <p:spPr>
          <a:xfrm>
            <a:off x="8127187" y="1371600"/>
            <a:ext cx="3514954" cy="2331720"/>
          </a:xfrm>
          <a:prstGeom prst="roundRect">
            <a:avLst>
              <a:gd name="adj" fmla="val 21087"/>
            </a:avLst>
          </a:prstGeom>
          <a:solidFill>
            <a:srgbClr val="F4F1F9"/>
          </a:solidFill>
          <a:ln w="6350">
            <a:solidFill>
              <a:srgbClr val="F4F1F9"/>
            </a:solidFill>
            <a:prstDash val="solid"/>
          </a:ln>
        </p:spPr>
      </p:sp>
      <p:sp>
        <p:nvSpPr>
          <p:cNvPr id="14" name="Shape 10"/>
          <p:cNvSpPr/>
          <p:nvPr/>
        </p:nvSpPr>
        <p:spPr>
          <a:xfrm>
            <a:off x="8401507" y="1645920"/>
            <a:ext cx="640080" cy="640080"/>
          </a:xfrm>
          <a:prstGeom prst="ellipse">
            <a:avLst/>
          </a:prstGeom>
          <a:solidFill>
            <a:srgbClr val="2A1A3D"/>
          </a:solidFill>
          <a:ln w="6350">
            <a:solidFill>
              <a:srgbClr val="2A1A3D"/>
            </a:solidFill>
            <a:prstDash val="solid"/>
          </a:ln>
        </p:spPr>
      </p:sp>
      <p:pic>
        <p:nvPicPr>
          <p:cNvPr id="15" name="Image 2" descr="preencoded.png"/>
          <p:cNvPicPr>
            <a:picLocks noChangeAspect="1"/>
          </p:cNvPicPr>
          <p:nvPr/>
        </p:nvPicPr>
        <p:blipFill>
          <a:blip r:embed="rId5"/>
          <a:stretch>
            <a:fillRect/>
          </a:stretch>
        </p:blipFill>
        <p:spPr>
          <a:xfrm>
            <a:off x="8561527" y="1805940"/>
            <a:ext cx="320040" cy="320040"/>
          </a:xfrm>
          <a:prstGeom prst="rect">
            <a:avLst/>
          </a:prstGeom>
        </p:spPr>
      </p:pic>
      <p:sp>
        <p:nvSpPr>
          <p:cNvPr id="16" name="Text 11"/>
          <p:cNvSpPr txBox="1"/>
          <p:nvPr/>
        </p:nvSpPr>
        <p:spPr>
          <a:xfrm>
            <a:off x="9224467" y="1645920"/>
            <a:ext cx="2234794" cy="640080"/>
          </a:xfrm>
          <a:prstGeom prst="rect">
            <a:avLst/>
          </a:prstGeom>
          <a:noFill/>
          <a:ln/>
        </p:spPr>
        <p:txBody>
          <a:bodyPr wrap="square" lIns="0" tIns="0" rIns="0" bIns="0" rtlCol="0" anchor="ctr"/>
          <a:lstStyle/>
          <a:p>
            <a:pPr marL="0" indent="0">
              <a:buNone/>
            </a:pPr>
            <a:r>
              <a:rPr lang="en-US" sz="1800" b="1" dirty="0">
                <a:solidFill>
                  <a:srgbClr val="2A1A3D"/>
                </a:solidFill>
                <a:latin typeface="Cambria" pitchFamily="34" charset="0"/>
                <a:ea typeface="Cambria" pitchFamily="34" charset="-122"/>
                <a:cs typeface="Cambria" pitchFamily="34" charset="-120"/>
              </a:rPr>
              <a:t>Accurate live info</a:t>
            </a:r>
            <a:endParaRPr lang="en-US" sz="1800" dirty="0"/>
          </a:p>
        </p:txBody>
      </p:sp>
      <p:sp>
        <p:nvSpPr>
          <p:cNvPr id="17" name="Text 12"/>
          <p:cNvSpPr txBox="1"/>
          <p:nvPr/>
        </p:nvSpPr>
        <p:spPr>
          <a:xfrm>
            <a:off x="8401507" y="2514600"/>
            <a:ext cx="2966314" cy="1005840"/>
          </a:xfrm>
          <a:prstGeom prst="rect">
            <a:avLst/>
          </a:prstGeom>
          <a:noFill/>
          <a:ln/>
        </p:spPr>
        <p:txBody>
          <a:bodyPr wrap="square" lIns="0" tIns="0" rIns="0" bIns="0" rtlCol="0" anchor="t"/>
          <a:lstStyle/>
          <a:p>
            <a:pPr marL="0" indent="0">
              <a:buNone/>
            </a:pPr>
            <a:r>
              <a:rPr lang="en-US" sz="1600" b="1" dirty="0">
                <a:solidFill>
                  <a:srgbClr val="E23B1F"/>
                </a:solidFill>
                <a:latin typeface="Calibri" pitchFamily="34" charset="0"/>
                <a:ea typeface="Calibri" pitchFamily="34" charset="-122"/>
                <a:cs typeface="Calibri" pitchFamily="34" charset="-120"/>
              </a:rPr>
              <a:t>Riya needs </a:t>
            </a:r>
            <a:r>
              <a:rPr lang="en-US" sz="1600" dirty="0">
                <a:solidFill>
                  <a:srgbClr val="2A1A3D"/>
                </a:solidFill>
                <a:latin typeface="Calibri" pitchFamily="34" charset="0"/>
                <a:ea typeface="Calibri" pitchFamily="34" charset="-122"/>
                <a:cs typeface="Calibri" pitchFamily="34" charset="-120"/>
              </a:rPr>
              <a:t>realistic ETAs, live tracking and a heads-up the moment something slips.</a:t>
            </a:r>
            <a:endParaRPr lang="en-US" sz="1600" dirty="0"/>
          </a:p>
        </p:txBody>
      </p:sp>
      <p:sp>
        <p:nvSpPr>
          <p:cNvPr id="18" name="Shape 13"/>
          <p:cNvSpPr/>
          <p:nvPr/>
        </p:nvSpPr>
        <p:spPr>
          <a:xfrm>
            <a:off x="548640" y="3977640"/>
            <a:ext cx="3514954" cy="2331720"/>
          </a:xfrm>
          <a:prstGeom prst="roundRect">
            <a:avLst>
              <a:gd name="adj" fmla="val 27044"/>
            </a:avLst>
          </a:prstGeom>
          <a:solidFill>
            <a:srgbClr val="F4F1F9"/>
          </a:solidFill>
          <a:ln w="6350">
            <a:solidFill>
              <a:srgbClr val="F4F1F9"/>
            </a:solidFill>
            <a:prstDash val="solid"/>
          </a:ln>
        </p:spPr>
      </p:sp>
      <p:sp>
        <p:nvSpPr>
          <p:cNvPr id="19" name="Shape 14"/>
          <p:cNvSpPr/>
          <p:nvPr/>
        </p:nvSpPr>
        <p:spPr>
          <a:xfrm>
            <a:off x="822960" y="4251960"/>
            <a:ext cx="640080" cy="640080"/>
          </a:xfrm>
          <a:prstGeom prst="ellipse">
            <a:avLst/>
          </a:prstGeom>
          <a:solidFill>
            <a:srgbClr val="2A1A3D"/>
          </a:solidFill>
          <a:ln w="6350">
            <a:solidFill>
              <a:srgbClr val="2A1A3D"/>
            </a:solidFill>
            <a:prstDash val="solid"/>
          </a:ln>
        </p:spPr>
      </p:sp>
      <p:pic>
        <p:nvPicPr>
          <p:cNvPr id="20" name="Image 3" descr="preencoded.png"/>
          <p:cNvPicPr>
            <a:picLocks noChangeAspect="1"/>
          </p:cNvPicPr>
          <p:nvPr/>
        </p:nvPicPr>
        <p:blipFill>
          <a:blip r:embed="rId6"/>
          <a:stretch>
            <a:fillRect/>
          </a:stretch>
        </p:blipFill>
        <p:spPr>
          <a:xfrm>
            <a:off x="982980" y="4411980"/>
            <a:ext cx="320040" cy="320040"/>
          </a:xfrm>
          <a:prstGeom prst="rect">
            <a:avLst/>
          </a:prstGeom>
        </p:spPr>
      </p:pic>
      <p:sp>
        <p:nvSpPr>
          <p:cNvPr id="21" name="Text 15"/>
          <p:cNvSpPr txBox="1"/>
          <p:nvPr/>
        </p:nvSpPr>
        <p:spPr>
          <a:xfrm>
            <a:off x="1645920" y="4251960"/>
            <a:ext cx="2234794" cy="640080"/>
          </a:xfrm>
          <a:prstGeom prst="rect">
            <a:avLst/>
          </a:prstGeom>
          <a:noFill/>
          <a:ln/>
        </p:spPr>
        <p:txBody>
          <a:bodyPr wrap="square" lIns="0" tIns="0" rIns="0" bIns="0" rtlCol="0" anchor="ctr"/>
          <a:lstStyle/>
          <a:p>
            <a:pPr marL="0" indent="0">
              <a:buNone/>
            </a:pPr>
            <a:r>
              <a:rPr lang="en-US" sz="1800" b="1" dirty="0">
                <a:solidFill>
                  <a:srgbClr val="2A1A3D"/>
                </a:solidFill>
                <a:latin typeface="Cambria" pitchFamily="34" charset="0"/>
                <a:ea typeface="Cambria" pitchFamily="34" charset="-122"/>
                <a:cs typeface="Cambria" pitchFamily="34" charset="-120"/>
              </a:rPr>
              <a:t>Effortless ordering</a:t>
            </a:r>
            <a:endParaRPr lang="en-US" sz="1800" dirty="0"/>
          </a:p>
        </p:txBody>
      </p:sp>
      <p:sp>
        <p:nvSpPr>
          <p:cNvPr id="22" name="Text 16"/>
          <p:cNvSpPr txBox="1"/>
          <p:nvPr/>
        </p:nvSpPr>
        <p:spPr>
          <a:xfrm>
            <a:off x="822960" y="5120640"/>
            <a:ext cx="2966314" cy="1005840"/>
          </a:xfrm>
          <a:prstGeom prst="rect">
            <a:avLst/>
          </a:prstGeom>
          <a:noFill/>
          <a:ln/>
        </p:spPr>
        <p:txBody>
          <a:bodyPr wrap="square" lIns="0" tIns="0" rIns="0" bIns="0" rtlCol="0" anchor="t"/>
          <a:lstStyle/>
          <a:p>
            <a:pPr marL="0" indent="0">
              <a:buNone/>
            </a:pPr>
            <a:r>
              <a:rPr lang="en-US" sz="1600" b="1" dirty="0">
                <a:solidFill>
                  <a:srgbClr val="E23B1F"/>
                </a:solidFill>
                <a:latin typeface="Calibri" pitchFamily="34" charset="0"/>
                <a:ea typeface="Calibri" pitchFamily="34" charset="-122"/>
                <a:cs typeface="Calibri" pitchFamily="34" charset="-120"/>
              </a:rPr>
              <a:t>Riya needs </a:t>
            </a:r>
            <a:r>
              <a:rPr lang="en-US" sz="1600" dirty="0">
                <a:solidFill>
                  <a:srgbClr val="2A1A3D"/>
                </a:solidFill>
                <a:latin typeface="Calibri" pitchFamily="34" charset="0"/>
                <a:ea typeface="Calibri" pitchFamily="34" charset="-122"/>
                <a:cs typeface="Calibri" pitchFamily="34" charset="-120"/>
              </a:rPr>
              <a:t>reorder in two taps, with saved addresses and fast payment.</a:t>
            </a:r>
            <a:endParaRPr lang="en-US" sz="1600" dirty="0"/>
          </a:p>
        </p:txBody>
      </p:sp>
      <p:sp>
        <p:nvSpPr>
          <p:cNvPr id="23" name="Shape 17"/>
          <p:cNvSpPr/>
          <p:nvPr/>
        </p:nvSpPr>
        <p:spPr>
          <a:xfrm>
            <a:off x="4337914" y="3977640"/>
            <a:ext cx="3514954" cy="2331720"/>
          </a:xfrm>
          <a:prstGeom prst="roundRect">
            <a:avLst>
              <a:gd name="adj" fmla="val 25058"/>
            </a:avLst>
          </a:prstGeom>
          <a:solidFill>
            <a:srgbClr val="F4F1F9"/>
          </a:solidFill>
          <a:ln w="6350">
            <a:solidFill>
              <a:srgbClr val="F4F1F9"/>
            </a:solidFill>
            <a:prstDash val="solid"/>
          </a:ln>
        </p:spPr>
      </p:sp>
      <p:sp>
        <p:nvSpPr>
          <p:cNvPr id="24" name="Shape 18"/>
          <p:cNvSpPr/>
          <p:nvPr/>
        </p:nvSpPr>
        <p:spPr>
          <a:xfrm>
            <a:off x="4612234" y="4251960"/>
            <a:ext cx="640080" cy="640080"/>
          </a:xfrm>
          <a:prstGeom prst="ellipse">
            <a:avLst/>
          </a:prstGeom>
          <a:solidFill>
            <a:srgbClr val="2A1A3D"/>
          </a:solidFill>
          <a:ln w="6350">
            <a:solidFill>
              <a:srgbClr val="2A1A3D"/>
            </a:solidFill>
            <a:prstDash val="solid"/>
          </a:ln>
        </p:spPr>
      </p:sp>
      <p:pic>
        <p:nvPicPr>
          <p:cNvPr id="25" name="Image 4" descr="preencoded.png"/>
          <p:cNvPicPr>
            <a:picLocks noChangeAspect="1"/>
          </p:cNvPicPr>
          <p:nvPr/>
        </p:nvPicPr>
        <p:blipFill>
          <a:blip r:embed="rId7"/>
          <a:stretch>
            <a:fillRect/>
          </a:stretch>
        </p:blipFill>
        <p:spPr>
          <a:xfrm>
            <a:off x="4772254" y="4411980"/>
            <a:ext cx="320040" cy="320040"/>
          </a:xfrm>
          <a:prstGeom prst="rect">
            <a:avLst/>
          </a:prstGeom>
        </p:spPr>
      </p:pic>
      <p:sp>
        <p:nvSpPr>
          <p:cNvPr id="26" name="Text 19"/>
          <p:cNvSpPr txBox="1"/>
          <p:nvPr/>
        </p:nvSpPr>
        <p:spPr>
          <a:xfrm>
            <a:off x="5435194" y="4251960"/>
            <a:ext cx="2234794" cy="640080"/>
          </a:xfrm>
          <a:prstGeom prst="rect">
            <a:avLst/>
          </a:prstGeom>
          <a:noFill/>
          <a:ln/>
        </p:spPr>
        <p:txBody>
          <a:bodyPr wrap="square" lIns="0" tIns="0" rIns="0" bIns="0" rtlCol="0" anchor="ctr"/>
          <a:lstStyle/>
          <a:p>
            <a:pPr marL="0" indent="0">
              <a:buNone/>
            </a:pPr>
            <a:r>
              <a:rPr lang="en-US" sz="1800" b="1" dirty="0">
                <a:solidFill>
                  <a:srgbClr val="2A1A3D"/>
                </a:solidFill>
                <a:latin typeface="Cambria" pitchFamily="34" charset="0"/>
                <a:ea typeface="Cambria" pitchFamily="34" charset="-122"/>
                <a:cs typeface="Cambria" pitchFamily="34" charset="-120"/>
              </a:rPr>
              <a:t>Choice and control</a:t>
            </a:r>
            <a:endParaRPr lang="en-US" sz="1800" dirty="0"/>
          </a:p>
        </p:txBody>
      </p:sp>
      <p:sp>
        <p:nvSpPr>
          <p:cNvPr id="27" name="Text 20"/>
          <p:cNvSpPr txBox="1"/>
          <p:nvPr/>
        </p:nvSpPr>
        <p:spPr>
          <a:xfrm>
            <a:off x="4612234" y="5120640"/>
            <a:ext cx="2966314" cy="1005840"/>
          </a:xfrm>
          <a:prstGeom prst="rect">
            <a:avLst/>
          </a:prstGeom>
          <a:noFill/>
          <a:ln/>
        </p:spPr>
        <p:txBody>
          <a:bodyPr wrap="square" lIns="0" tIns="0" rIns="0" bIns="0" rtlCol="0" anchor="t"/>
          <a:lstStyle/>
          <a:p>
            <a:pPr marL="0" indent="0">
              <a:buNone/>
            </a:pPr>
            <a:r>
              <a:rPr lang="en-US" sz="1600" b="1" dirty="0">
                <a:solidFill>
                  <a:srgbClr val="E23B1F"/>
                </a:solidFill>
                <a:latin typeface="Calibri" pitchFamily="34" charset="0"/>
                <a:ea typeface="Calibri" pitchFamily="34" charset="-122"/>
                <a:cs typeface="Calibri" pitchFamily="34" charset="-120"/>
              </a:rPr>
              <a:t>Riya needs </a:t>
            </a:r>
            <a:r>
              <a:rPr lang="en-US" sz="1600" dirty="0">
                <a:solidFill>
                  <a:srgbClr val="2A1A3D"/>
                </a:solidFill>
                <a:latin typeface="Calibri" pitchFamily="34" charset="0"/>
                <a:ea typeface="Calibri" pitchFamily="34" charset="-122"/>
                <a:cs typeface="Calibri" pitchFamily="34" charset="-120"/>
              </a:rPr>
              <a:t>relevant restaurants, dietary filters and easy customisation.</a:t>
            </a:r>
            <a:endParaRPr lang="en-US" sz="1600" dirty="0"/>
          </a:p>
        </p:txBody>
      </p:sp>
      <p:sp>
        <p:nvSpPr>
          <p:cNvPr id="28" name="Shape 21"/>
          <p:cNvSpPr/>
          <p:nvPr/>
        </p:nvSpPr>
        <p:spPr>
          <a:xfrm>
            <a:off x="8127187" y="3977640"/>
            <a:ext cx="3514954" cy="2331720"/>
          </a:xfrm>
          <a:prstGeom prst="roundRect">
            <a:avLst>
              <a:gd name="adj" fmla="val 27540"/>
            </a:avLst>
          </a:prstGeom>
          <a:solidFill>
            <a:srgbClr val="F4F1F9"/>
          </a:solidFill>
          <a:ln w="6350">
            <a:solidFill>
              <a:srgbClr val="F4F1F9"/>
            </a:solidFill>
            <a:prstDash val="solid"/>
          </a:ln>
        </p:spPr>
      </p:sp>
      <p:sp>
        <p:nvSpPr>
          <p:cNvPr id="29" name="Shape 22"/>
          <p:cNvSpPr/>
          <p:nvPr/>
        </p:nvSpPr>
        <p:spPr>
          <a:xfrm>
            <a:off x="8401507" y="4251960"/>
            <a:ext cx="640080" cy="640080"/>
          </a:xfrm>
          <a:prstGeom prst="ellipse">
            <a:avLst/>
          </a:prstGeom>
          <a:solidFill>
            <a:srgbClr val="2A1A3D"/>
          </a:solidFill>
          <a:ln w="6350">
            <a:solidFill>
              <a:srgbClr val="2A1A3D"/>
            </a:solidFill>
            <a:prstDash val="solid"/>
          </a:ln>
        </p:spPr>
      </p:sp>
      <p:pic>
        <p:nvPicPr>
          <p:cNvPr id="30" name="Image 5" descr="preencoded.png"/>
          <p:cNvPicPr>
            <a:picLocks noChangeAspect="1"/>
          </p:cNvPicPr>
          <p:nvPr/>
        </p:nvPicPr>
        <p:blipFill>
          <a:blip r:embed="rId8"/>
          <a:stretch>
            <a:fillRect/>
          </a:stretch>
        </p:blipFill>
        <p:spPr>
          <a:xfrm>
            <a:off x="8561527" y="4411980"/>
            <a:ext cx="320040" cy="320040"/>
          </a:xfrm>
          <a:prstGeom prst="rect">
            <a:avLst/>
          </a:prstGeom>
        </p:spPr>
      </p:pic>
      <p:sp>
        <p:nvSpPr>
          <p:cNvPr id="31" name="Text 23"/>
          <p:cNvSpPr txBox="1"/>
          <p:nvPr/>
        </p:nvSpPr>
        <p:spPr>
          <a:xfrm>
            <a:off x="9224467" y="4251960"/>
            <a:ext cx="2234794" cy="640080"/>
          </a:xfrm>
          <a:prstGeom prst="rect">
            <a:avLst/>
          </a:prstGeom>
          <a:noFill/>
          <a:ln/>
        </p:spPr>
        <p:txBody>
          <a:bodyPr wrap="square" lIns="0" tIns="0" rIns="0" bIns="0" rtlCol="0" anchor="ctr"/>
          <a:lstStyle/>
          <a:p>
            <a:pPr marL="0" indent="0">
              <a:buNone/>
            </a:pPr>
            <a:r>
              <a:rPr lang="en-US" sz="1800" b="1" dirty="0">
                <a:solidFill>
                  <a:srgbClr val="2A1A3D"/>
                </a:solidFill>
                <a:latin typeface="Cambria" pitchFamily="34" charset="0"/>
                <a:ea typeface="Cambria" pitchFamily="34" charset="-122"/>
                <a:cs typeface="Cambria" pitchFamily="34" charset="-120"/>
              </a:rPr>
              <a:t>Trust and support</a:t>
            </a:r>
            <a:endParaRPr lang="en-US" sz="1800" dirty="0"/>
          </a:p>
        </p:txBody>
      </p:sp>
      <p:sp>
        <p:nvSpPr>
          <p:cNvPr id="32" name="Text 24"/>
          <p:cNvSpPr txBox="1"/>
          <p:nvPr/>
        </p:nvSpPr>
        <p:spPr>
          <a:xfrm>
            <a:off x="8401507" y="5120640"/>
            <a:ext cx="2966314" cy="1005840"/>
          </a:xfrm>
          <a:prstGeom prst="rect">
            <a:avLst/>
          </a:prstGeom>
          <a:noFill/>
          <a:ln/>
        </p:spPr>
        <p:txBody>
          <a:bodyPr wrap="square" lIns="0" tIns="0" rIns="0" bIns="0" rtlCol="0" anchor="t"/>
          <a:lstStyle/>
          <a:p>
            <a:pPr marL="0" indent="0">
              <a:buNone/>
            </a:pPr>
            <a:r>
              <a:rPr lang="en-US" sz="1600" b="1" dirty="0">
                <a:solidFill>
                  <a:srgbClr val="E23B1F"/>
                </a:solidFill>
                <a:latin typeface="Calibri" pitchFamily="34" charset="0"/>
                <a:ea typeface="Calibri" pitchFamily="34" charset="-122"/>
                <a:cs typeface="Calibri" pitchFamily="34" charset="-120"/>
              </a:rPr>
              <a:t>Riya needs </a:t>
            </a:r>
            <a:r>
              <a:rPr lang="en-US" sz="1600" dirty="0">
                <a:solidFill>
                  <a:srgbClr val="2A1A3D"/>
                </a:solidFill>
                <a:latin typeface="Calibri" pitchFamily="34" charset="0"/>
                <a:ea typeface="Calibri" pitchFamily="34" charset="-122"/>
                <a:cs typeface="Calibri" pitchFamily="34" charset="-120"/>
              </a:rPr>
              <a:t>safe food, secure payments and quick, human help when needed.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400" b="1" u="sng" dirty="0">
                <a:solidFill>
                  <a:srgbClr val="2A1A3D"/>
                </a:solidFill>
                <a:latin typeface="Cambria" pitchFamily="34" charset="0"/>
                <a:ea typeface="Cambria" pitchFamily="34" charset="-122"/>
                <a:cs typeface="Cambria" pitchFamily="34" charset="-120"/>
              </a:rPr>
              <a:t>Frustrations pile up across the journey</a:t>
            </a:r>
            <a:endParaRPr lang="en-US" sz="3400" u="sng" dirty="0"/>
          </a:p>
        </p:txBody>
      </p:sp>
      <p:sp>
        <p:nvSpPr>
          <p:cNvPr id="3" name="Shape 1"/>
          <p:cNvSpPr/>
          <p:nvPr/>
        </p:nvSpPr>
        <p:spPr>
          <a:xfrm>
            <a:off x="1566642" y="1783080"/>
            <a:ext cx="9058412" cy="0"/>
          </a:xfrm>
          <a:prstGeom prst="line">
            <a:avLst/>
          </a:prstGeom>
          <a:noFill/>
          <a:ln w="31750">
            <a:solidFill>
              <a:srgbClr val="D9CFEA"/>
            </a:solidFill>
            <a:prstDash val="solid"/>
          </a:ln>
        </p:spPr>
      </p:sp>
      <p:sp>
        <p:nvSpPr>
          <p:cNvPr id="4" name="Shape 2"/>
          <p:cNvSpPr/>
          <p:nvPr/>
        </p:nvSpPr>
        <p:spPr>
          <a:xfrm>
            <a:off x="1155162" y="1371600"/>
            <a:ext cx="822960" cy="822960"/>
          </a:xfrm>
          <a:prstGeom prst="ellipse">
            <a:avLst/>
          </a:prstGeom>
          <a:solidFill>
            <a:srgbClr val="2A1A3D"/>
          </a:solidFill>
          <a:ln w="6350">
            <a:solidFill>
              <a:srgbClr val="2A1A3D"/>
            </a:solidFill>
            <a:prstDash val="solid"/>
          </a:ln>
        </p:spPr>
      </p:sp>
      <p:pic>
        <p:nvPicPr>
          <p:cNvPr id="5" name="Image 0" descr="preencoded.png"/>
          <p:cNvPicPr>
            <a:picLocks noChangeAspect="1"/>
          </p:cNvPicPr>
          <p:nvPr/>
        </p:nvPicPr>
        <p:blipFill>
          <a:blip r:embed="rId3"/>
          <a:stretch>
            <a:fillRect/>
          </a:stretch>
        </p:blipFill>
        <p:spPr>
          <a:xfrm>
            <a:off x="1360902" y="1577340"/>
            <a:ext cx="411480" cy="411480"/>
          </a:xfrm>
          <a:prstGeom prst="rect">
            <a:avLst/>
          </a:prstGeom>
        </p:spPr>
      </p:pic>
      <p:sp>
        <p:nvSpPr>
          <p:cNvPr id="6" name="Text 3"/>
          <p:cNvSpPr txBox="1"/>
          <p:nvPr/>
        </p:nvSpPr>
        <p:spPr>
          <a:xfrm>
            <a:off x="548640" y="2331720"/>
            <a:ext cx="2036003" cy="365760"/>
          </a:xfrm>
          <a:prstGeom prst="rect">
            <a:avLst/>
          </a:prstGeom>
          <a:noFill/>
          <a:ln/>
        </p:spPr>
        <p:txBody>
          <a:bodyPr wrap="square" lIns="0" tIns="0" rIns="0" bIns="0" rtlCol="0" anchor="ctr"/>
          <a:lstStyle/>
          <a:p>
            <a:pPr marL="0" indent="0" algn="ctr">
              <a:buNone/>
            </a:pPr>
            <a:r>
              <a:rPr lang="en-US" sz="1800" b="1" dirty="0">
                <a:solidFill>
                  <a:srgbClr val="2A1A3D"/>
                </a:solidFill>
                <a:latin typeface="Cambria" pitchFamily="34" charset="0"/>
                <a:ea typeface="Cambria" pitchFamily="34" charset="-122"/>
                <a:cs typeface="Cambria" pitchFamily="34" charset="-120"/>
              </a:rPr>
              <a:t>Discover</a:t>
            </a:r>
            <a:endParaRPr lang="en-US" sz="1800" dirty="0"/>
          </a:p>
        </p:txBody>
      </p:sp>
      <p:sp>
        <p:nvSpPr>
          <p:cNvPr id="7" name="Shape 4"/>
          <p:cNvSpPr/>
          <p:nvPr/>
        </p:nvSpPr>
        <p:spPr>
          <a:xfrm>
            <a:off x="548640" y="2788920"/>
            <a:ext cx="2036003" cy="2971800"/>
          </a:xfrm>
          <a:prstGeom prst="roundRect">
            <a:avLst>
              <a:gd name="adj" fmla="val 5389"/>
            </a:avLst>
          </a:prstGeom>
          <a:solidFill>
            <a:srgbClr val="FDECE8"/>
          </a:solidFill>
          <a:ln w="6350">
            <a:solidFill>
              <a:srgbClr val="FDECE8"/>
            </a:solidFill>
            <a:prstDash val="solid"/>
          </a:ln>
        </p:spPr>
      </p:sp>
      <p:sp>
        <p:nvSpPr>
          <p:cNvPr id="8" name="Text 5"/>
          <p:cNvSpPr txBox="1"/>
          <p:nvPr/>
        </p:nvSpPr>
        <p:spPr>
          <a:xfrm>
            <a:off x="731520" y="2971800"/>
            <a:ext cx="1670243" cy="178308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Endless scrolling</a:t>
            </a:r>
            <a:endParaRPr lang="en-US" sz="1400" dirty="0"/>
          </a:p>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Sponsored results bury the best picks</a:t>
            </a:r>
            <a:endParaRPr lang="en-US" sz="1400" dirty="0"/>
          </a:p>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Sold-out items found late</a:t>
            </a:r>
            <a:endParaRPr lang="en-US" sz="1400" dirty="0"/>
          </a:p>
        </p:txBody>
      </p:sp>
      <p:sp>
        <p:nvSpPr>
          <p:cNvPr id="9" name="Text 6"/>
          <p:cNvSpPr txBox="1"/>
          <p:nvPr/>
        </p:nvSpPr>
        <p:spPr>
          <a:xfrm>
            <a:off x="731520" y="4937760"/>
            <a:ext cx="1670243" cy="685800"/>
          </a:xfrm>
          <a:prstGeom prst="rect">
            <a:avLst/>
          </a:prstGeom>
          <a:noFill/>
          <a:ln/>
        </p:spPr>
        <p:txBody>
          <a:bodyPr wrap="square" lIns="0" tIns="0" rIns="0" bIns="0" rtlCol="0" anchor="ctr"/>
          <a:lstStyle/>
          <a:p>
            <a:pPr marL="0" indent="0">
              <a:buNone/>
            </a:pPr>
            <a:r>
              <a:rPr lang="en-US" sz="1000" b="1" kern="0" spc="200" dirty="0">
                <a:solidFill>
                  <a:srgbClr val="5F5773"/>
                </a:solidFill>
                <a:latin typeface="Calibri" pitchFamily="34" charset="0"/>
                <a:ea typeface="Calibri" pitchFamily="34" charset="-122"/>
                <a:cs typeface="Calibri" pitchFamily="34" charset="-120"/>
              </a:rPr>
              <a:t>MOOD</a:t>
            </a:r>
            <a:endParaRPr lang="en-US" sz="1000" dirty="0"/>
          </a:p>
          <a:p>
            <a:pPr marL="0" indent="0">
              <a:buNone/>
            </a:pPr>
            <a:r>
              <a:rPr lang="en-US" sz="1800" b="1" dirty="0">
                <a:solidFill>
                  <a:srgbClr val="E23B1F"/>
                </a:solidFill>
                <a:latin typeface="Cambria" pitchFamily="34" charset="0"/>
                <a:ea typeface="Cambria" pitchFamily="34" charset="-122"/>
                <a:cs typeface="Cambria" pitchFamily="34" charset="-120"/>
              </a:rPr>
              <a:t>Overwhelmed</a:t>
            </a:r>
            <a:endParaRPr lang="en-US" sz="1000" dirty="0"/>
          </a:p>
        </p:txBody>
      </p:sp>
      <p:sp>
        <p:nvSpPr>
          <p:cNvPr id="10" name="Shape 7"/>
          <p:cNvSpPr/>
          <p:nvPr/>
        </p:nvSpPr>
        <p:spPr>
          <a:xfrm>
            <a:off x="3419765" y="1371600"/>
            <a:ext cx="822960" cy="822960"/>
          </a:xfrm>
          <a:prstGeom prst="ellipse">
            <a:avLst/>
          </a:prstGeom>
          <a:solidFill>
            <a:srgbClr val="2A1A3D"/>
          </a:solidFill>
          <a:ln w="6350">
            <a:solidFill>
              <a:srgbClr val="2A1A3D"/>
            </a:solidFill>
            <a:prstDash val="solid"/>
          </a:ln>
        </p:spPr>
      </p:sp>
      <p:pic>
        <p:nvPicPr>
          <p:cNvPr id="11" name="Image 1" descr="preencoded.png"/>
          <p:cNvPicPr>
            <a:picLocks noChangeAspect="1"/>
          </p:cNvPicPr>
          <p:nvPr/>
        </p:nvPicPr>
        <p:blipFill>
          <a:blip r:embed="rId4"/>
          <a:stretch>
            <a:fillRect/>
          </a:stretch>
        </p:blipFill>
        <p:spPr>
          <a:xfrm>
            <a:off x="3625505" y="1577340"/>
            <a:ext cx="411480" cy="411480"/>
          </a:xfrm>
          <a:prstGeom prst="rect">
            <a:avLst/>
          </a:prstGeom>
        </p:spPr>
      </p:pic>
      <p:sp>
        <p:nvSpPr>
          <p:cNvPr id="12" name="Text 8"/>
          <p:cNvSpPr txBox="1"/>
          <p:nvPr/>
        </p:nvSpPr>
        <p:spPr>
          <a:xfrm>
            <a:off x="2813243" y="2331720"/>
            <a:ext cx="2036003" cy="365760"/>
          </a:xfrm>
          <a:prstGeom prst="rect">
            <a:avLst/>
          </a:prstGeom>
          <a:noFill/>
          <a:ln/>
        </p:spPr>
        <p:txBody>
          <a:bodyPr wrap="square" lIns="0" tIns="0" rIns="0" bIns="0" rtlCol="0" anchor="ctr"/>
          <a:lstStyle/>
          <a:p>
            <a:pPr marL="0" indent="0" algn="ctr">
              <a:buNone/>
            </a:pPr>
            <a:r>
              <a:rPr lang="en-US" sz="1800" b="1" dirty="0">
                <a:solidFill>
                  <a:srgbClr val="2A1A3D"/>
                </a:solidFill>
                <a:latin typeface="Cambria" pitchFamily="34" charset="0"/>
                <a:ea typeface="Cambria" pitchFamily="34" charset="-122"/>
                <a:cs typeface="Cambria" pitchFamily="34" charset="-120"/>
              </a:rPr>
              <a:t>Order and pay</a:t>
            </a:r>
            <a:endParaRPr lang="en-US" sz="1800" dirty="0"/>
          </a:p>
        </p:txBody>
      </p:sp>
      <p:sp>
        <p:nvSpPr>
          <p:cNvPr id="13" name="Shape 9"/>
          <p:cNvSpPr/>
          <p:nvPr/>
        </p:nvSpPr>
        <p:spPr>
          <a:xfrm>
            <a:off x="2813243" y="2788920"/>
            <a:ext cx="2036003" cy="2971800"/>
          </a:xfrm>
          <a:prstGeom prst="roundRect">
            <a:avLst>
              <a:gd name="adj" fmla="val 5389"/>
            </a:avLst>
          </a:prstGeom>
          <a:solidFill>
            <a:srgbClr val="FDECE8"/>
          </a:solidFill>
          <a:ln w="6350">
            <a:solidFill>
              <a:srgbClr val="FDECE8"/>
            </a:solidFill>
            <a:prstDash val="solid"/>
          </a:ln>
        </p:spPr>
      </p:sp>
      <p:sp>
        <p:nvSpPr>
          <p:cNvPr id="14" name="Text 10"/>
          <p:cNvSpPr txBox="1"/>
          <p:nvPr/>
        </p:nvSpPr>
        <p:spPr>
          <a:xfrm>
            <a:off x="2996123" y="2971800"/>
            <a:ext cx="1670243" cy="178308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Surprise fees at checkout</a:t>
            </a:r>
            <a:endParaRPr lang="en-US" sz="1400" dirty="0"/>
          </a:p>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Coupons that won’t apply</a:t>
            </a:r>
            <a:endParaRPr lang="en-US" sz="1400" dirty="0"/>
          </a:p>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Payment fails at the last step</a:t>
            </a:r>
            <a:endParaRPr lang="en-US" sz="1400" dirty="0"/>
          </a:p>
        </p:txBody>
      </p:sp>
      <p:sp>
        <p:nvSpPr>
          <p:cNvPr id="15" name="Text 11"/>
          <p:cNvSpPr txBox="1"/>
          <p:nvPr/>
        </p:nvSpPr>
        <p:spPr>
          <a:xfrm>
            <a:off x="2996123" y="4937760"/>
            <a:ext cx="1670243" cy="685800"/>
          </a:xfrm>
          <a:prstGeom prst="rect">
            <a:avLst/>
          </a:prstGeom>
          <a:noFill/>
          <a:ln/>
        </p:spPr>
        <p:txBody>
          <a:bodyPr wrap="square" lIns="0" tIns="0" rIns="0" bIns="0" rtlCol="0" anchor="ctr"/>
          <a:lstStyle/>
          <a:p>
            <a:pPr marL="0" indent="0">
              <a:buNone/>
            </a:pPr>
            <a:r>
              <a:rPr lang="en-US" sz="1000" b="1" kern="0" spc="200" dirty="0">
                <a:solidFill>
                  <a:srgbClr val="5F5773"/>
                </a:solidFill>
                <a:latin typeface="Calibri" pitchFamily="34" charset="0"/>
                <a:ea typeface="Calibri" pitchFamily="34" charset="-122"/>
                <a:cs typeface="Calibri" pitchFamily="34" charset="-120"/>
              </a:rPr>
              <a:t>MOOD</a:t>
            </a:r>
            <a:endParaRPr lang="en-US" sz="1000" dirty="0"/>
          </a:p>
          <a:p>
            <a:pPr marL="0" indent="0">
              <a:buNone/>
            </a:pPr>
            <a:r>
              <a:rPr lang="en-US" sz="1800" b="1" dirty="0">
                <a:solidFill>
                  <a:srgbClr val="E23B1F"/>
                </a:solidFill>
                <a:latin typeface="Cambria" pitchFamily="34" charset="0"/>
                <a:ea typeface="Cambria" pitchFamily="34" charset="-122"/>
                <a:cs typeface="Cambria" pitchFamily="34" charset="-120"/>
              </a:rPr>
              <a:t>Wary</a:t>
            </a:r>
            <a:endParaRPr lang="en-US" sz="1000" dirty="0"/>
          </a:p>
        </p:txBody>
      </p:sp>
      <p:sp>
        <p:nvSpPr>
          <p:cNvPr id="16" name="Shape 12"/>
          <p:cNvSpPr/>
          <p:nvPr/>
        </p:nvSpPr>
        <p:spPr>
          <a:xfrm>
            <a:off x="5684368" y="1371600"/>
            <a:ext cx="822960" cy="822960"/>
          </a:xfrm>
          <a:prstGeom prst="ellipse">
            <a:avLst/>
          </a:prstGeom>
          <a:solidFill>
            <a:srgbClr val="2A1A3D"/>
          </a:solidFill>
          <a:ln w="6350">
            <a:solidFill>
              <a:srgbClr val="2A1A3D"/>
            </a:solidFill>
            <a:prstDash val="solid"/>
          </a:ln>
        </p:spPr>
      </p:sp>
      <p:pic>
        <p:nvPicPr>
          <p:cNvPr id="17" name="Image 2" descr="preencoded.png"/>
          <p:cNvPicPr>
            <a:picLocks noChangeAspect="1"/>
          </p:cNvPicPr>
          <p:nvPr/>
        </p:nvPicPr>
        <p:blipFill>
          <a:blip r:embed="rId5"/>
          <a:stretch>
            <a:fillRect/>
          </a:stretch>
        </p:blipFill>
        <p:spPr>
          <a:xfrm>
            <a:off x="5890108" y="1577340"/>
            <a:ext cx="411480" cy="411480"/>
          </a:xfrm>
          <a:prstGeom prst="rect">
            <a:avLst/>
          </a:prstGeom>
        </p:spPr>
      </p:pic>
      <p:sp>
        <p:nvSpPr>
          <p:cNvPr id="18" name="Text 13"/>
          <p:cNvSpPr txBox="1"/>
          <p:nvPr/>
        </p:nvSpPr>
        <p:spPr>
          <a:xfrm>
            <a:off x="5077846" y="2331720"/>
            <a:ext cx="2036003" cy="365760"/>
          </a:xfrm>
          <a:prstGeom prst="rect">
            <a:avLst/>
          </a:prstGeom>
          <a:noFill/>
          <a:ln/>
        </p:spPr>
        <p:txBody>
          <a:bodyPr wrap="square" lIns="0" tIns="0" rIns="0" bIns="0" rtlCol="0" anchor="ctr"/>
          <a:lstStyle/>
          <a:p>
            <a:pPr marL="0" indent="0" algn="ctr">
              <a:buNone/>
            </a:pPr>
            <a:r>
              <a:rPr lang="en-US" sz="1800" b="1" dirty="0">
                <a:solidFill>
                  <a:srgbClr val="2A1A3D"/>
                </a:solidFill>
                <a:latin typeface="Cambria" pitchFamily="34" charset="0"/>
                <a:ea typeface="Cambria" pitchFamily="34" charset="-122"/>
                <a:cs typeface="Cambria" pitchFamily="34" charset="-120"/>
              </a:rPr>
              <a:t>Wait</a:t>
            </a:r>
            <a:endParaRPr lang="en-US" sz="1800" dirty="0"/>
          </a:p>
        </p:txBody>
      </p:sp>
      <p:sp>
        <p:nvSpPr>
          <p:cNvPr id="19" name="Shape 14"/>
          <p:cNvSpPr/>
          <p:nvPr/>
        </p:nvSpPr>
        <p:spPr>
          <a:xfrm>
            <a:off x="5077846" y="2788920"/>
            <a:ext cx="2036003" cy="2971800"/>
          </a:xfrm>
          <a:prstGeom prst="roundRect">
            <a:avLst>
              <a:gd name="adj" fmla="val 5389"/>
            </a:avLst>
          </a:prstGeom>
          <a:solidFill>
            <a:srgbClr val="FDECE8"/>
          </a:solidFill>
          <a:ln w="6350">
            <a:solidFill>
              <a:srgbClr val="FDECE8"/>
            </a:solidFill>
            <a:prstDash val="solid"/>
          </a:ln>
        </p:spPr>
      </p:sp>
      <p:sp>
        <p:nvSpPr>
          <p:cNvPr id="20" name="Text 15"/>
          <p:cNvSpPr txBox="1"/>
          <p:nvPr/>
        </p:nvSpPr>
        <p:spPr>
          <a:xfrm>
            <a:off x="5260726" y="2971800"/>
            <a:ext cx="1670243" cy="178308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ETA keeps shifting</a:t>
            </a:r>
            <a:endParaRPr lang="en-US" sz="1400" dirty="0"/>
          </a:p>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No update when the rider is stuck</a:t>
            </a:r>
            <a:endParaRPr lang="en-US" sz="1400" dirty="0"/>
          </a:p>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Constant status-checking</a:t>
            </a:r>
            <a:endParaRPr lang="en-US" sz="1400" dirty="0"/>
          </a:p>
        </p:txBody>
      </p:sp>
      <p:sp>
        <p:nvSpPr>
          <p:cNvPr id="21" name="Text 16"/>
          <p:cNvSpPr txBox="1"/>
          <p:nvPr/>
        </p:nvSpPr>
        <p:spPr>
          <a:xfrm>
            <a:off x="5260726" y="4937760"/>
            <a:ext cx="1670243" cy="685800"/>
          </a:xfrm>
          <a:prstGeom prst="rect">
            <a:avLst/>
          </a:prstGeom>
          <a:noFill/>
          <a:ln/>
        </p:spPr>
        <p:txBody>
          <a:bodyPr wrap="square" lIns="0" tIns="0" rIns="0" bIns="0" rtlCol="0" anchor="ctr"/>
          <a:lstStyle/>
          <a:p>
            <a:pPr marL="0" indent="0">
              <a:buNone/>
            </a:pPr>
            <a:r>
              <a:rPr lang="en-US" sz="1000" b="1" kern="0" spc="200" dirty="0">
                <a:solidFill>
                  <a:srgbClr val="5F5773"/>
                </a:solidFill>
                <a:latin typeface="Calibri" pitchFamily="34" charset="0"/>
                <a:ea typeface="Calibri" pitchFamily="34" charset="-122"/>
                <a:cs typeface="Calibri" pitchFamily="34" charset="-120"/>
              </a:rPr>
              <a:t>MOOD</a:t>
            </a:r>
            <a:endParaRPr lang="en-US" sz="1000" dirty="0"/>
          </a:p>
          <a:p>
            <a:pPr marL="0" indent="0">
              <a:buNone/>
            </a:pPr>
            <a:r>
              <a:rPr lang="en-US" sz="1800" b="1" dirty="0">
                <a:solidFill>
                  <a:srgbClr val="E23B1F"/>
                </a:solidFill>
                <a:latin typeface="Cambria" pitchFamily="34" charset="0"/>
                <a:ea typeface="Cambria" pitchFamily="34" charset="-122"/>
                <a:cs typeface="Cambria" pitchFamily="34" charset="-120"/>
              </a:rPr>
              <a:t>Anxious</a:t>
            </a:r>
            <a:endParaRPr lang="en-US" sz="1000" dirty="0"/>
          </a:p>
        </p:txBody>
      </p:sp>
      <p:sp>
        <p:nvSpPr>
          <p:cNvPr id="22" name="Shape 17"/>
          <p:cNvSpPr/>
          <p:nvPr/>
        </p:nvSpPr>
        <p:spPr>
          <a:xfrm>
            <a:off x="7948971" y="1371600"/>
            <a:ext cx="822960" cy="822960"/>
          </a:xfrm>
          <a:prstGeom prst="ellipse">
            <a:avLst/>
          </a:prstGeom>
          <a:solidFill>
            <a:srgbClr val="2A1A3D"/>
          </a:solidFill>
          <a:ln w="6350">
            <a:solidFill>
              <a:srgbClr val="2A1A3D"/>
            </a:solidFill>
            <a:prstDash val="solid"/>
          </a:ln>
        </p:spPr>
      </p:sp>
      <p:pic>
        <p:nvPicPr>
          <p:cNvPr id="23" name="Image 3" descr="preencoded.png"/>
          <p:cNvPicPr>
            <a:picLocks noChangeAspect="1"/>
          </p:cNvPicPr>
          <p:nvPr/>
        </p:nvPicPr>
        <p:blipFill>
          <a:blip r:embed="rId6"/>
          <a:stretch>
            <a:fillRect/>
          </a:stretch>
        </p:blipFill>
        <p:spPr>
          <a:xfrm>
            <a:off x="8154711" y="1577340"/>
            <a:ext cx="411480" cy="411480"/>
          </a:xfrm>
          <a:prstGeom prst="rect">
            <a:avLst/>
          </a:prstGeom>
        </p:spPr>
      </p:pic>
      <p:sp>
        <p:nvSpPr>
          <p:cNvPr id="24" name="Text 18"/>
          <p:cNvSpPr txBox="1"/>
          <p:nvPr/>
        </p:nvSpPr>
        <p:spPr>
          <a:xfrm>
            <a:off x="7342449" y="2331720"/>
            <a:ext cx="2036003" cy="365760"/>
          </a:xfrm>
          <a:prstGeom prst="rect">
            <a:avLst/>
          </a:prstGeom>
          <a:noFill/>
          <a:ln/>
        </p:spPr>
        <p:txBody>
          <a:bodyPr wrap="square" lIns="0" tIns="0" rIns="0" bIns="0" rtlCol="0" anchor="ctr"/>
          <a:lstStyle/>
          <a:p>
            <a:pPr marL="0" indent="0" algn="ctr">
              <a:buNone/>
            </a:pPr>
            <a:r>
              <a:rPr lang="en-US" sz="1800" b="1" dirty="0">
                <a:solidFill>
                  <a:srgbClr val="2A1A3D"/>
                </a:solidFill>
                <a:latin typeface="Cambria" pitchFamily="34" charset="0"/>
                <a:ea typeface="Cambria" pitchFamily="34" charset="-122"/>
                <a:cs typeface="Cambria" pitchFamily="34" charset="-120"/>
              </a:rPr>
              <a:t>Receive</a:t>
            </a:r>
            <a:endParaRPr lang="en-US" sz="1800" dirty="0"/>
          </a:p>
        </p:txBody>
      </p:sp>
      <p:sp>
        <p:nvSpPr>
          <p:cNvPr id="25" name="Shape 19"/>
          <p:cNvSpPr/>
          <p:nvPr/>
        </p:nvSpPr>
        <p:spPr>
          <a:xfrm>
            <a:off x="7342449" y="2788920"/>
            <a:ext cx="2036003" cy="2971800"/>
          </a:xfrm>
          <a:prstGeom prst="roundRect">
            <a:avLst>
              <a:gd name="adj" fmla="val 5389"/>
            </a:avLst>
          </a:prstGeom>
          <a:solidFill>
            <a:srgbClr val="FDECE8"/>
          </a:solidFill>
          <a:ln w="6350">
            <a:solidFill>
              <a:srgbClr val="FDECE8"/>
            </a:solidFill>
            <a:prstDash val="solid"/>
          </a:ln>
        </p:spPr>
      </p:sp>
      <p:sp>
        <p:nvSpPr>
          <p:cNvPr id="26" name="Text 20"/>
          <p:cNvSpPr txBox="1"/>
          <p:nvPr/>
        </p:nvSpPr>
        <p:spPr>
          <a:xfrm>
            <a:off x="7525329" y="2971800"/>
            <a:ext cx="1670243" cy="178308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Cold or spilled food</a:t>
            </a:r>
            <a:endParaRPr lang="en-US" sz="1400" dirty="0"/>
          </a:p>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Missing or wrong items</a:t>
            </a:r>
            <a:endParaRPr lang="en-US" sz="1400" dirty="0"/>
          </a:p>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Hard to reach the rider</a:t>
            </a:r>
            <a:endParaRPr lang="en-US" sz="1400" dirty="0"/>
          </a:p>
        </p:txBody>
      </p:sp>
      <p:sp>
        <p:nvSpPr>
          <p:cNvPr id="27" name="Text 21"/>
          <p:cNvSpPr txBox="1"/>
          <p:nvPr/>
        </p:nvSpPr>
        <p:spPr>
          <a:xfrm>
            <a:off x="7525329" y="4937760"/>
            <a:ext cx="1670243" cy="685800"/>
          </a:xfrm>
          <a:prstGeom prst="rect">
            <a:avLst/>
          </a:prstGeom>
          <a:noFill/>
          <a:ln/>
        </p:spPr>
        <p:txBody>
          <a:bodyPr wrap="square" lIns="0" tIns="0" rIns="0" bIns="0" rtlCol="0" anchor="ctr"/>
          <a:lstStyle/>
          <a:p>
            <a:pPr marL="0" indent="0">
              <a:buNone/>
            </a:pPr>
            <a:r>
              <a:rPr lang="en-US" sz="1000" b="1" kern="0" spc="200" dirty="0">
                <a:solidFill>
                  <a:srgbClr val="5F5773"/>
                </a:solidFill>
                <a:latin typeface="Calibri" pitchFamily="34" charset="0"/>
                <a:ea typeface="Calibri" pitchFamily="34" charset="-122"/>
                <a:cs typeface="Calibri" pitchFamily="34" charset="-120"/>
              </a:rPr>
              <a:t>MOOD</a:t>
            </a:r>
            <a:endParaRPr lang="en-US" sz="1000" dirty="0"/>
          </a:p>
          <a:p>
            <a:pPr marL="0" indent="0">
              <a:buNone/>
            </a:pPr>
            <a:r>
              <a:rPr lang="en-US" sz="1800" b="1" dirty="0">
                <a:solidFill>
                  <a:srgbClr val="E23B1F"/>
                </a:solidFill>
                <a:latin typeface="Cambria" pitchFamily="34" charset="0"/>
                <a:ea typeface="Cambria" pitchFamily="34" charset="-122"/>
                <a:cs typeface="Cambria" pitchFamily="34" charset="-120"/>
              </a:rPr>
              <a:t>Annoyed</a:t>
            </a:r>
            <a:endParaRPr lang="en-US" sz="1000" dirty="0"/>
          </a:p>
        </p:txBody>
      </p:sp>
      <p:sp>
        <p:nvSpPr>
          <p:cNvPr id="28" name="Shape 22"/>
          <p:cNvSpPr/>
          <p:nvPr/>
        </p:nvSpPr>
        <p:spPr>
          <a:xfrm>
            <a:off x="10213574" y="1371600"/>
            <a:ext cx="822960" cy="822960"/>
          </a:xfrm>
          <a:prstGeom prst="ellipse">
            <a:avLst/>
          </a:prstGeom>
          <a:solidFill>
            <a:srgbClr val="2A1A3D"/>
          </a:solidFill>
          <a:ln w="6350">
            <a:solidFill>
              <a:srgbClr val="2A1A3D"/>
            </a:solidFill>
            <a:prstDash val="solid"/>
          </a:ln>
        </p:spPr>
      </p:sp>
      <p:pic>
        <p:nvPicPr>
          <p:cNvPr id="29" name="Image 4" descr="preencoded.png"/>
          <p:cNvPicPr>
            <a:picLocks noChangeAspect="1"/>
          </p:cNvPicPr>
          <p:nvPr/>
        </p:nvPicPr>
        <p:blipFill>
          <a:blip r:embed="rId7"/>
          <a:stretch>
            <a:fillRect/>
          </a:stretch>
        </p:blipFill>
        <p:spPr>
          <a:xfrm>
            <a:off x="10419314" y="1577340"/>
            <a:ext cx="411480" cy="411480"/>
          </a:xfrm>
          <a:prstGeom prst="rect">
            <a:avLst/>
          </a:prstGeom>
        </p:spPr>
      </p:pic>
      <p:sp>
        <p:nvSpPr>
          <p:cNvPr id="30" name="Text 23"/>
          <p:cNvSpPr txBox="1"/>
          <p:nvPr/>
        </p:nvSpPr>
        <p:spPr>
          <a:xfrm>
            <a:off x="9607052" y="2331720"/>
            <a:ext cx="2036003" cy="365760"/>
          </a:xfrm>
          <a:prstGeom prst="rect">
            <a:avLst/>
          </a:prstGeom>
          <a:noFill/>
          <a:ln/>
        </p:spPr>
        <p:txBody>
          <a:bodyPr wrap="square" lIns="0" tIns="0" rIns="0" bIns="0" rtlCol="0" anchor="ctr"/>
          <a:lstStyle/>
          <a:p>
            <a:pPr marL="0" indent="0" algn="ctr">
              <a:buNone/>
            </a:pPr>
            <a:r>
              <a:rPr lang="en-US" sz="1800" b="1" dirty="0">
                <a:solidFill>
                  <a:srgbClr val="2A1A3D"/>
                </a:solidFill>
                <a:latin typeface="Cambria" pitchFamily="34" charset="0"/>
                <a:ea typeface="Cambria" pitchFamily="34" charset="-122"/>
                <a:cs typeface="Cambria" pitchFamily="34" charset="-120"/>
              </a:rPr>
              <a:t>Get help</a:t>
            </a:r>
            <a:endParaRPr lang="en-US" sz="1800" dirty="0"/>
          </a:p>
        </p:txBody>
      </p:sp>
      <p:sp>
        <p:nvSpPr>
          <p:cNvPr id="31" name="Shape 24"/>
          <p:cNvSpPr/>
          <p:nvPr/>
        </p:nvSpPr>
        <p:spPr>
          <a:xfrm>
            <a:off x="9607052" y="2788920"/>
            <a:ext cx="2036003" cy="2971800"/>
          </a:xfrm>
          <a:prstGeom prst="roundRect">
            <a:avLst>
              <a:gd name="adj" fmla="val 5389"/>
            </a:avLst>
          </a:prstGeom>
          <a:solidFill>
            <a:srgbClr val="FDECE8"/>
          </a:solidFill>
          <a:ln w="6350">
            <a:solidFill>
              <a:srgbClr val="FDECE8"/>
            </a:solidFill>
            <a:prstDash val="solid"/>
          </a:ln>
        </p:spPr>
      </p:sp>
      <p:sp>
        <p:nvSpPr>
          <p:cNvPr id="32" name="Text 25"/>
          <p:cNvSpPr txBox="1"/>
          <p:nvPr/>
        </p:nvSpPr>
        <p:spPr>
          <a:xfrm>
            <a:off x="9789932" y="2971800"/>
            <a:ext cx="1670243" cy="1783080"/>
          </a:xfrm>
          <a:prstGeom prst="rect">
            <a:avLst/>
          </a:prstGeom>
          <a:noFill/>
          <a:ln/>
        </p:spPr>
        <p:txBody>
          <a:bodyPr wrap="square" lIns="0" tIns="0" rIns="0" bIns="0" rtlCol="0" anchor="t"/>
          <a:lstStyle/>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Chatbot loops</a:t>
            </a:r>
            <a:endParaRPr lang="en-US" sz="1400" dirty="0"/>
          </a:p>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Repeating the story to each agent</a:t>
            </a:r>
            <a:endParaRPr lang="en-US" sz="1400" dirty="0"/>
          </a:p>
          <a:p>
            <a:pPr marL="152400" indent="-152400">
              <a:spcAft>
                <a:spcPts val="600"/>
              </a:spcAft>
              <a:buSzPct val="100000"/>
              <a:buChar char="•"/>
            </a:pPr>
            <a:r>
              <a:rPr lang="en-US" sz="1400" dirty="0">
                <a:solidFill>
                  <a:srgbClr val="2A1A3D"/>
                </a:solidFill>
                <a:latin typeface="Calibri" pitchFamily="34" charset="0"/>
                <a:ea typeface="Calibri" pitchFamily="34" charset="-122"/>
                <a:cs typeface="Calibri" pitchFamily="34" charset="-120"/>
              </a:rPr>
              <a:t>Refunds take days</a:t>
            </a:r>
            <a:endParaRPr lang="en-US" sz="1400" dirty="0"/>
          </a:p>
        </p:txBody>
      </p:sp>
      <p:sp>
        <p:nvSpPr>
          <p:cNvPr id="33" name="Text 26"/>
          <p:cNvSpPr txBox="1"/>
          <p:nvPr/>
        </p:nvSpPr>
        <p:spPr>
          <a:xfrm>
            <a:off x="9789932" y="4937760"/>
            <a:ext cx="1670243" cy="685800"/>
          </a:xfrm>
          <a:prstGeom prst="rect">
            <a:avLst/>
          </a:prstGeom>
          <a:noFill/>
          <a:ln/>
        </p:spPr>
        <p:txBody>
          <a:bodyPr wrap="square" lIns="0" tIns="0" rIns="0" bIns="0" rtlCol="0" anchor="ctr"/>
          <a:lstStyle/>
          <a:p>
            <a:pPr marL="0" indent="0">
              <a:buNone/>
            </a:pPr>
            <a:r>
              <a:rPr lang="en-US" sz="1000" b="1" kern="0" spc="200" dirty="0">
                <a:solidFill>
                  <a:srgbClr val="5F5773"/>
                </a:solidFill>
                <a:latin typeface="Calibri" pitchFamily="34" charset="0"/>
                <a:ea typeface="Calibri" pitchFamily="34" charset="-122"/>
                <a:cs typeface="Calibri" pitchFamily="34" charset="-120"/>
              </a:rPr>
              <a:t>MOOD</a:t>
            </a:r>
            <a:endParaRPr lang="en-US" sz="1000" dirty="0"/>
          </a:p>
          <a:p>
            <a:pPr marL="0" indent="0">
              <a:buNone/>
            </a:pPr>
            <a:r>
              <a:rPr lang="en-US" sz="1800" b="1" dirty="0">
                <a:solidFill>
                  <a:srgbClr val="E23B1F"/>
                </a:solidFill>
                <a:latin typeface="Cambria" pitchFamily="34" charset="0"/>
                <a:ea typeface="Cambria" pitchFamily="34" charset="-122"/>
                <a:cs typeface="Cambria" pitchFamily="34" charset="-120"/>
              </a:rPr>
              <a:t>Helpless</a:t>
            </a:r>
            <a:endParaRPr lang="en-US" sz="1000" dirty="0"/>
          </a:p>
        </p:txBody>
      </p:sp>
      <p:sp>
        <p:nvSpPr>
          <p:cNvPr id="34" name="Text 27"/>
          <p:cNvSpPr txBox="1"/>
          <p:nvPr/>
        </p:nvSpPr>
        <p:spPr>
          <a:xfrm>
            <a:off x="548640" y="5989320"/>
            <a:ext cx="11094415" cy="365760"/>
          </a:xfrm>
          <a:prstGeom prst="rect">
            <a:avLst/>
          </a:prstGeom>
          <a:noFill/>
          <a:ln/>
        </p:spPr>
        <p:txBody>
          <a:bodyPr wrap="square" lIns="0" tIns="0" rIns="0" bIns="0" rtlCol="0" anchor="ctr"/>
          <a:lstStyle/>
          <a:p>
            <a:pPr marL="0" indent="0">
              <a:buNone/>
            </a:pPr>
            <a:r>
              <a:rPr lang="en-US" sz="1600" i="1" dirty="0">
                <a:solidFill>
                  <a:srgbClr val="5F5773"/>
                </a:solidFill>
                <a:latin typeface="Calibri" pitchFamily="34" charset="0"/>
                <a:ea typeface="Calibri" pitchFamily="34" charset="-122"/>
                <a:cs typeface="Calibri" pitchFamily="34" charset="-120"/>
              </a:rPr>
              <a:t>Trust breaks when the promise (price, ETA, order) doesn’t match reality.</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400" b="1" u="sng" dirty="0">
                <a:solidFill>
                  <a:srgbClr val="2A1A3D"/>
                </a:solidFill>
                <a:latin typeface="Cambria" pitchFamily="34" charset="0"/>
                <a:ea typeface="Cambria" pitchFamily="34" charset="-122"/>
                <a:cs typeface="Cambria" pitchFamily="34" charset="-120"/>
              </a:rPr>
              <a:t>What Riya expects, and what delights her</a:t>
            </a:r>
            <a:endParaRPr lang="en-US" sz="3400" u="sng" dirty="0"/>
          </a:p>
        </p:txBody>
      </p:sp>
      <p:sp>
        <p:nvSpPr>
          <p:cNvPr id="3" name="Shape 1"/>
          <p:cNvSpPr/>
          <p:nvPr/>
        </p:nvSpPr>
        <p:spPr>
          <a:xfrm>
            <a:off x="548640" y="1371600"/>
            <a:ext cx="3514954" cy="4846320"/>
          </a:xfrm>
          <a:prstGeom prst="roundRect">
            <a:avLst>
              <a:gd name="adj" fmla="val 24155"/>
            </a:avLst>
          </a:prstGeom>
          <a:solidFill>
            <a:srgbClr val="2A1A3D"/>
          </a:solidFill>
          <a:ln w="6350">
            <a:solidFill>
              <a:srgbClr val="2A1A3D"/>
            </a:solidFill>
            <a:prstDash val="solid"/>
          </a:ln>
        </p:spPr>
      </p:sp>
      <p:sp>
        <p:nvSpPr>
          <p:cNvPr id="4" name="Text 2"/>
          <p:cNvSpPr txBox="1"/>
          <p:nvPr/>
        </p:nvSpPr>
        <p:spPr>
          <a:xfrm>
            <a:off x="868680" y="1645920"/>
            <a:ext cx="2874874" cy="868680"/>
          </a:xfrm>
          <a:prstGeom prst="rect">
            <a:avLst/>
          </a:prstGeom>
          <a:noFill/>
          <a:ln/>
        </p:spPr>
        <p:txBody>
          <a:bodyPr wrap="square" lIns="0" tIns="0" rIns="0" bIns="0" rtlCol="0" anchor="t"/>
          <a:lstStyle/>
          <a:p>
            <a:pPr marL="0" indent="0">
              <a:spcAft>
                <a:spcPts val="300"/>
              </a:spcAft>
              <a:buNone/>
            </a:pPr>
            <a:r>
              <a:rPr lang="en-US" sz="2400" b="1" dirty="0">
                <a:solidFill>
                  <a:srgbClr val="FFFFFF"/>
                </a:solidFill>
                <a:latin typeface="Cambria" pitchFamily="34" charset="0"/>
                <a:ea typeface="Cambria" pitchFamily="34" charset="-122"/>
                <a:cs typeface="Cambria" pitchFamily="34" charset="-120"/>
              </a:rPr>
              <a:t>Must-haves</a:t>
            </a:r>
            <a:endParaRPr lang="en-US" sz="2400" dirty="0"/>
          </a:p>
          <a:p>
            <a:pPr marL="0" indent="0">
              <a:spcAft>
                <a:spcPts val="300"/>
              </a:spcAft>
              <a:buNone/>
            </a:pPr>
            <a:r>
              <a:rPr lang="en-US" sz="1400" dirty="0">
                <a:solidFill>
                  <a:srgbClr val="D9CFEA"/>
                </a:solidFill>
                <a:latin typeface="Calibri" pitchFamily="34" charset="0"/>
                <a:ea typeface="Calibri" pitchFamily="34" charset="-122"/>
                <a:cs typeface="Calibri" pitchFamily="34" charset="-120"/>
              </a:rPr>
              <a:t>Miss these and she leaves</a:t>
            </a:r>
            <a:endParaRPr lang="en-US" sz="2400" dirty="0"/>
          </a:p>
        </p:txBody>
      </p:sp>
      <p:sp>
        <p:nvSpPr>
          <p:cNvPr id="5" name="Text 3"/>
          <p:cNvSpPr txBox="1"/>
          <p:nvPr/>
        </p:nvSpPr>
        <p:spPr>
          <a:xfrm>
            <a:off x="868680" y="2743200"/>
            <a:ext cx="2874874" cy="3291840"/>
          </a:xfrm>
          <a:prstGeom prst="rect">
            <a:avLst/>
          </a:prstGeom>
          <a:noFill/>
          <a:ln/>
        </p:spPr>
        <p:txBody>
          <a:bodyPr wrap="square" lIns="0" tIns="0" rIns="0" bIns="0" rtlCol="0" anchor="t"/>
          <a:lstStyle/>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Accurate ETA</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Right order, right items</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Food arrives hot and safe</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Secure, reliable payment</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Transparent pricing</a:t>
            </a:r>
            <a:endParaRPr lang="en-US" sz="1800" dirty="0"/>
          </a:p>
        </p:txBody>
      </p:sp>
      <p:sp>
        <p:nvSpPr>
          <p:cNvPr id="6" name="Shape 4"/>
          <p:cNvSpPr/>
          <p:nvPr/>
        </p:nvSpPr>
        <p:spPr>
          <a:xfrm>
            <a:off x="4337914" y="1371600"/>
            <a:ext cx="3514954" cy="4846320"/>
          </a:xfrm>
          <a:prstGeom prst="roundRect">
            <a:avLst>
              <a:gd name="adj" fmla="val 15022"/>
            </a:avLst>
          </a:prstGeom>
          <a:solidFill>
            <a:srgbClr val="F4F1F9"/>
          </a:solidFill>
          <a:ln w="6350">
            <a:solidFill>
              <a:srgbClr val="F4F1F9"/>
            </a:solidFill>
            <a:prstDash val="solid"/>
          </a:ln>
        </p:spPr>
      </p:sp>
      <p:sp>
        <p:nvSpPr>
          <p:cNvPr id="7" name="Text 5"/>
          <p:cNvSpPr txBox="1"/>
          <p:nvPr/>
        </p:nvSpPr>
        <p:spPr>
          <a:xfrm>
            <a:off x="4657954" y="1645920"/>
            <a:ext cx="2874874" cy="868680"/>
          </a:xfrm>
          <a:prstGeom prst="rect">
            <a:avLst/>
          </a:prstGeom>
          <a:noFill/>
          <a:ln/>
        </p:spPr>
        <p:txBody>
          <a:bodyPr wrap="square" lIns="0" tIns="0" rIns="0" bIns="0" rtlCol="0" anchor="t"/>
          <a:lstStyle/>
          <a:p>
            <a:pPr marL="0" indent="0">
              <a:spcAft>
                <a:spcPts val="300"/>
              </a:spcAft>
              <a:buNone/>
            </a:pPr>
            <a:r>
              <a:rPr lang="en-US" sz="2400" b="1" dirty="0">
                <a:solidFill>
                  <a:srgbClr val="2A1A3D"/>
                </a:solidFill>
                <a:latin typeface="Cambria" pitchFamily="34" charset="0"/>
                <a:ea typeface="Cambria" pitchFamily="34" charset="-122"/>
                <a:cs typeface="Cambria" pitchFamily="34" charset="-120"/>
              </a:rPr>
              <a:t>Expected</a:t>
            </a:r>
            <a:endParaRPr lang="en-US" sz="2400" dirty="0"/>
          </a:p>
          <a:p>
            <a:pPr marL="0" indent="0">
              <a:spcAft>
                <a:spcPts val="300"/>
              </a:spcAft>
              <a:buNone/>
            </a:pPr>
            <a:r>
              <a:rPr lang="en-US" sz="1400" dirty="0">
                <a:solidFill>
                  <a:srgbClr val="5F5773"/>
                </a:solidFill>
                <a:latin typeface="Calibri" pitchFamily="34" charset="0"/>
                <a:ea typeface="Calibri" pitchFamily="34" charset="-122"/>
                <a:cs typeface="Calibri" pitchFamily="34" charset="-120"/>
              </a:rPr>
              <a:t>Rivals already offer these</a:t>
            </a:r>
            <a:endParaRPr lang="en-US" sz="2400" dirty="0"/>
          </a:p>
        </p:txBody>
      </p:sp>
      <p:sp>
        <p:nvSpPr>
          <p:cNvPr id="8" name="Text 6"/>
          <p:cNvSpPr txBox="1"/>
          <p:nvPr/>
        </p:nvSpPr>
        <p:spPr>
          <a:xfrm>
            <a:off x="4657954" y="2743200"/>
            <a:ext cx="2874874" cy="3291840"/>
          </a:xfrm>
          <a:prstGeom prst="rect">
            <a:avLst/>
          </a:prstGeom>
          <a:noFill/>
          <a:ln/>
        </p:spPr>
        <p:txBody>
          <a:bodyPr wrap="square" lIns="0" tIns="0" rIns="0" bIns="0" rtlCol="0" anchor="t"/>
          <a:lstStyle/>
          <a:p>
            <a:pPr marL="203200" indent="-203200">
              <a:spcAft>
                <a:spcPts val="1400"/>
              </a:spcAft>
              <a:buSzPct val="100000"/>
              <a:buChar char="•"/>
            </a:pPr>
            <a:r>
              <a:rPr lang="en-US" sz="1800" dirty="0">
                <a:solidFill>
                  <a:srgbClr val="2A1A3D"/>
                </a:solidFill>
                <a:latin typeface="Calibri" pitchFamily="34" charset="0"/>
                <a:ea typeface="Calibri" pitchFamily="34" charset="-122"/>
                <a:cs typeface="Calibri" pitchFamily="34" charset="-120"/>
              </a:rPr>
              <a:t>Live order tracking</a:t>
            </a:r>
            <a:endParaRPr lang="en-US" sz="1800" dirty="0"/>
          </a:p>
          <a:p>
            <a:pPr marL="203200" indent="-203200">
              <a:spcAft>
                <a:spcPts val="1400"/>
              </a:spcAft>
              <a:buSzPct val="100000"/>
              <a:buChar char="•"/>
            </a:pPr>
            <a:r>
              <a:rPr lang="en-US" sz="1800" dirty="0">
                <a:solidFill>
                  <a:srgbClr val="2A1A3D"/>
                </a:solidFill>
                <a:latin typeface="Calibri" pitchFamily="34" charset="0"/>
                <a:ea typeface="Calibri" pitchFamily="34" charset="-122"/>
                <a:cs typeface="Calibri" pitchFamily="34" charset="-120"/>
              </a:rPr>
              <a:t>Easy cancellation and refunds</a:t>
            </a:r>
            <a:endParaRPr lang="en-US" sz="1800" dirty="0"/>
          </a:p>
          <a:p>
            <a:pPr marL="203200" indent="-203200">
              <a:spcAft>
                <a:spcPts val="1400"/>
              </a:spcAft>
              <a:buSzPct val="100000"/>
              <a:buChar char="•"/>
            </a:pPr>
            <a:r>
              <a:rPr lang="en-US" sz="1800" dirty="0">
                <a:solidFill>
                  <a:srgbClr val="2A1A3D"/>
                </a:solidFill>
                <a:latin typeface="Calibri" pitchFamily="34" charset="0"/>
                <a:ea typeface="Calibri" pitchFamily="34" charset="-122"/>
                <a:cs typeface="Calibri" pitchFamily="34" charset="-120"/>
              </a:rPr>
              <a:t>Dietary filters and customisation</a:t>
            </a:r>
            <a:endParaRPr lang="en-US" sz="1800" dirty="0"/>
          </a:p>
          <a:p>
            <a:pPr marL="203200" indent="-203200">
              <a:spcAft>
                <a:spcPts val="1400"/>
              </a:spcAft>
              <a:buSzPct val="100000"/>
              <a:buChar char="•"/>
            </a:pPr>
            <a:r>
              <a:rPr lang="en-US" sz="1800" dirty="0">
                <a:solidFill>
                  <a:srgbClr val="2A1A3D"/>
                </a:solidFill>
                <a:latin typeface="Calibri" pitchFamily="34" charset="0"/>
                <a:ea typeface="Calibri" pitchFamily="34" charset="-122"/>
                <a:cs typeface="Calibri" pitchFamily="34" charset="-120"/>
              </a:rPr>
              <a:t>Multiple payment options</a:t>
            </a:r>
            <a:endParaRPr lang="en-US" sz="1800" dirty="0"/>
          </a:p>
          <a:p>
            <a:pPr marL="203200" indent="-203200">
              <a:spcAft>
                <a:spcPts val="1400"/>
              </a:spcAft>
              <a:buSzPct val="100000"/>
              <a:buChar char="•"/>
            </a:pPr>
            <a:r>
              <a:rPr lang="en-US" sz="1800" dirty="0">
                <a:solidFill>
                  <a:srgbClr val="2A1A3D"/>
                </a:solidFill>
                <a:latin typeface="Calibri" pitchFamily="34" charset="0"/>
                <a:ea typeface="Calibri" pitchFamily="34" charset="-122"/>
                <a:cs typeface="Calibri" pitchFamily="34" charset="-120"/>
              </a:rPr>
              <a:t>Relevant offers and rewards</a:t>
            </a:r>
            <a:endParaRPr lang="en-US" sz="1800" dirty="0"/>
          </a:p>
        </p:txBody>
      </p:sp>
      <p:sp>
        <p:nvSpPr>
          <p:cNvPr id="9" name="Shape 7"/>
          <p:cNvSpPr/>
          <p:nvPr/>
        </p:nvSpPr>
        <p:spPr>
          <a:xfrm>
            <a:off x="8127187" y="1371600"/>
            <a:ext cx="3514954" cy="4846320"/>
          </a:xfrm>
          <a:prstGeom prst="roundRect">
            <a:avLst>
              <a:gd name="adj" fmla="val 21111"/>
            </a:avLst>
          </a:prstGeom>
          <a:solidFill>
            <a:srgbClr val="E23B1F"/>
          </a:solidFill>
          <a:ln w="6350">
            <a:solidFill>
              <a:srgbClr val="E23B1F"/>
            </a:solidFill>
            <a:prstDash val="solid"/>
          </a:ln>
        </p:spPr>
      </p:sp>
      <p:sp>
        <p:nvSpPr>
          <p:cNvPr id="10" name="Text 8"/>
          <p:cNvSpPr txBox="1"/>
          <p:nvPr/>
        </p:nvSpPr>
        <p:spPr>
          <a:xfrm>
            <a:off x="8447227" y="1645920"/>
            <a:ext cx="2874874" cy="868680"/>
          </a:xfrm>
          <a:prstGeom prst="rect">
            <a:avLst/>
          </a:prstGeom>
          <a:noFill/>
          <a:ln/>
        </p:spPr>
        <p:txBody>
          <a:bodyPr wrap="square" lIns="0" tIns="0" rIns="0" bIns="0" rtlCol="0" anchor="t"/>
          <a:lstStyle/>
          <a:p>
            <a:pPr marL="0" indent="0">
              <a:spcAft>
                <a:spcPts val="300"/>
              </a:spcAft>
              <a:buNone/>
            </a:pPr>
            <a:r>
              <a:rPr lang="en-US" sz="2400" b="1" dirty="0">
                <a:solidFill>
                  <a:srgbClr val="FFFFFF"/>
                </a:solidFill>
                <a:latin typeface="Cambria" pitchFamily="34" charset="0"/>
                <a:ea typeface="Cambria" pitchFamily="34" charset="-122"/>
                <a:cs typeface="Cambria" pitchFamily="34" charset="-120"/>
              </a:rPr>
              <a:t>Delighters</a:t>
            </a:r>
            <a:endParaRPr lang="en-US" sz="2400" dirty="0"/>
          </a:p>
          <a:p>
            <a:pPr marL="0" indent="0">
              <a:spcAft>
                <a:spcPts val="300"/>
              </a:spcAft>
              <a:buNone/>
            </a:pPr>
            <a:r>
              <a:rPr lang="en-US" sz="1400" dirty="0">
                <a:solidFill>
                  <a:srgbClr val="FFE3DC"/>
                </a:solidFill>
                <a:latin typeface="Calibri" pitchFamily="34" charset="0"/>
                <a:ea typeface="Calibri" pitchFamily="34" charset="-122"/>
                <a:cs typeface="Calibri" pitchFamily="34" charset="-120"/>
              </a:rPr>
              <a:t>Make her tell friends</a:t>
            </a:r>
            <a:endParaRPr lang="en-US" sz="2400" dirty="0"/>
          </a:p>
        </p:txBody>
      </p:sp>
      <p:sp>
        <p:nvSpPr>
          <p:cNvPr id="11" name="Text 9"/>
          <p:cNvSpPr txBox="1"/>
          <p:nvPr/>
        </p:nvSpPr>
        <p:spPr>
          <a:xfrm>
            <a:off x="8447227" y="2743200"/>
            <a:ext cx="2874874" cy="3291840"/>
          </a:xfrm>
          <a:prstGeom prst="rect">
            <a:avLst/>
          </a:prstGeom>
          <a:noFill/>
          <a:ln/>
        </p:spPr>
        <p:txBody>
          <a:bodyPr wrap="square" lIns="0" tIns="0" rIns="0" bIns="0" rtlCol="0" anchor="t"/>
          <a:lstStyle/>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Smart reorder: “Your usual Friday lunch?”</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Auto-credit when delivery runs late</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Photo proof at drop-off</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Group orders with split bill</a:t>
            </a:r>
            <a:endParaRPr lang="en-US" sz="1800" dirty="0"/>
          </a:p>
          <a:p>
            <a:pPr marL="203200" indent="-2032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Eco-friendly packaging choices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400" b="1" u="sng" dirty="0">
                <a:solidFill>
                  <a:srgbClr val="2A1A3D"/>
                </a:solidFill>
                <a:latin typeface="Cambria" pitchFamily="34" charset="0"/>
                <a:ea typeface="Cambria" pitchFamily="34" charset="-122"/>
                <a:cs typeface="Cambria" pitchFamily="34" charset="-120"/>
              </a:rPr>
              <a:t>From insight to action for Toing</a:t>
            </a:r>
            <a:endParaRPr lang="en-US" sz="3400" u="sng"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4663440"/>
        </p:xfrm>
        <a:graphic>
          <a:graphicData uri="http://schemas.openxmlformats.org/drawingml/2006/table">
            <a:tbl>
              <a:tblPr/>
              <a:tblGrid>
                <a:gridCol w="301752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4876495">
                  <a:extLst>
                    <a:ext uri="{9D8B030D-6E8A-4147-A177-3AD203B41FA5}">
                      <a16:colId xmlns:a16="http://schemas.microsoft.com/office/drawing/2014/main" val="20002"/>
                    </a:ext>
                  </a:extLst>
                </a:gridCol>
              </a:tblGrid>
              <a:tr h="548640">
                <a:tc>
                  <a:txBody>
                    <a:bodyPr/>
                    <a:lstStyle/>
                    <a:p>
                      <a:pPr marL="0" indent="0">
                        <a:buNone/>
                      </a:pPr>
                      <a:r>
                        <a:rPr lang="en-US" sz="1700" b="1" dirty="0">
                          <a:solidFill>
                            <a:srgbClr val="FFFFFF"/>
                          </a:solidFill>
                          <a:latin typeface="Cambria" pitchFamily="34" charset="0"/>
                          <a:ea typeface="Cambria" pitchFamily="34" charset="-122"/>
                          <a:cs typeface="Cambria" pitchFamily="34" charset="-120"/>
                        </a:rPr>
                        <a:t>Frustration</a:t>
                      </a:r>
                      <a:endParaRPr lang="en-US" sz="1700" dirty="0">
                        <a:latin typeface="Cambria" charset="0"/>
                        <a:ea typeface="Cambria" charset="0"/>
                        <a:cs typeface="Cambria"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2A1A3D"/>
                    </a:solidFill>
                  </a:tcPr>
                </a:tc>
                <a:tc>
                  <a:txBody>
                    <a:bodyPr/>
                    <a:lstStyle/>
                    <a:p>
                      <a:pPr marL="0" indent="0">
                        <a:buNone/>
                      </a:pPr>
                      <a:r>
                        <a:rPr lang="en-US" sz="1700" b="1" dirty="0">
                          <a:solidFill>
                            <a:srgbClr val="FFFFFF"/>
                          </a:solidFill>
                          <a:latin typeface="Cambria" pitchFamily="34" charset="0"/>
                          <a:ea typeface="Cambria" pitchFamily="34" charset="-122"/>
                          <a:cs typeface="Cambria" pitchFamily="34" charset="-120"/>
                        </a:rPr>
                        <a:t>Design opportunity</a:t>
                      </a:r>
                      <a:endParaRPr lang="en-US" sz="1700" dirty="0">
                        <a:latin typeface="Cambria" charset="0"/>
                        <a:ea typeface="Cambria" charset="0"/>
                        <a:cs typeface="Cambria"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2A1A3D"/>
                    </a:solidFill>
                  </a:tcPr>
                </a:tc>
                <a:tc>
                  <a:txBody>
                    <a:bodyPr/>
                    <a:lstStyle/>
                    <a:p>
                      <a:pPr marL="0" indent="0">
                        <a:buNone/>
                      </a:pPr>
                      <a:r>
                        <a:rPr lang="en-US" sz="1700" b="1" dirty="0">
                          <a:solidFill>
                            <a:srgbClr val="FFFFFF"/>
                          </a:solidFill>
                          <a:latin typeface="Cambria" pitchFamily="34" charset="0"/>
                          <a:ea typeface="Cambria" pitchFamily="34" charset="-122"/>
                          <a:cs typeface="Cambria" pitchFamily="34" charset="-120"/>
                        </a:rPr>
                        <a:t>Toing feature idea</a:t>
                      </a:r>
                      <a:endParaRPr lang="en-US" sz="1700" dirty="0">
                        <a:latin typeface="Cambria" charset="0"/>
                        <a:ea typeface="Cambria" charset="0"/>
                        <a:cs typeface="Cambria"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2A1A3D"/>
                    </a:solidFill>
                  </a:tcPr>
                </a:tc>
                <a:extLst>
                  <a:ext uri="{0D108BD9-81ED-4DB2-BD59-A6C34878D82A}">
                    <a16:rowId xmlns:a16="http://schemas.microsoft.com/office/drawing/2014/main" val="10000"/>
                  </a:ext>
                </a:extLst>
              </a:tr>
              <a:tr h="822960">
                <a:tc>
                  <a:txBody>
                    <a:bodyPr/>
                    <a:lstStyle/>
                    <a:p>
                      <a:pPr marL="0" indent="0">
                        <a:buNone/>
                      </a:pPr>
                      <a:r>
                        <a:rPr lang="en-US" sz="1600" b="1" dirty="0">
                          <a:solidFill>
                            <a:srgbClr val="2A1A3D"/>
                          </a:solidFill>
                          <a:latin typeface="Calibri" pitchFamily="34" charset="0"/>
                          <a:ea typeface="Calibri" pitchFamily="34" charset="-122"/>
                          <a:cs typeface="Calibri" pitchFamily="34" charset="-120"/>
                        </a:rPr>
                        <a:t>Surprise fees at checkout</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FFFFF"/>
                    </a:solidFill>
                  </a:tcPr>
                </a:tc>
                <a:tc>
                  <a:txBody>
                    <a:bodyPr/>
                    <a:lstStyle/>
                    <a:p>
                      <a:pPr marL="0" indent="0">
                        <a:buNone/>
                      </a:pPr>
                      <a:r>
                        <a:rPr lang="en-US" sz="1600" dirty="0">
                          <a:solidFill>
                            <a:srgbClr val="2A1A3D"/>
                          </a:solidFill>
                          <a:latin typeface="Calibri" pitchFamily="34" charset="0"/>
                          <a:ea typeface="Calibri" pitchFamily="34" charset="-122"/>
                          <a:cs typeface="Calibri" pitchFamily="34" charset="-120"/>
                        </a:rPr>
                        <a:t>Show the true price early</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FFFFF"/>
                    </a:solidFill>
                  </a:tcPr>
                </a:tc>
                <a:tc>
                  <a:txBody>
                    <a:bodyPr/>
                    <a:lstStyle/>
                    <a:p>
                      <a:pPr marL="0" indent="0">
                        <a:buNone/>
                      </a:pPr>
                      <a:r>
                        <a:rPr lang="en-US" sz="1600" dirty="0">
                          <a:solidFill>
                            <a:srgbClr val="2A1A3D"/>
                          </a:solidFill>
                          <a:latin typeface="Calibri" pitchFamily="34" charset="0"/>
                          <a:ea typeface="Calibri" pitchFamily="34" charset="-122"/>
                          <a:cs typeface="Calibri" pitchFamily="34" charset="-120"/>
                        </a:rPr>
                        <a:t>“All-in price” on listings; itemised fee breakdown in the cart</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marL="0" indent="0">
                        <a:buNone/>
                      </a:pPr>
                      <a:r>
                        <a:rPr lang="en-US" sz="1600" b="1" dirty="0">
                          <a:solidFill>
                            <a:srgbClr val="2A1A3D"/>
                          </a:solidFill>
                          <a:latin typeface="Calibri" pitchFamily="34" charset="0"/>
                          <a:ea typeface="Calibri" pitchFamily="34" charset="-122"/>
                          <a:cs typeface="Calibri" pitchFamily="34" charset="-120"/>
                        </a:rPr>
                        <a:t>ETAs that keep shifting</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4F1F9"/>
                    </a:solidFill>
                  </a:tcPr>
                </a:tc>
                <a:tc>
                  <a:txBody>
                    <a:bodyPr/>
                    <a:lstStyle/>
                    <a:p>
                      <a:pPr marL="0" indent="0">
                        <a:buNone/>
                      </a:pPr>
                      <a:r>
                        <a:rPr lang="en-US" sz="1600" dirty="0">
                          <a:solidFill>
                            <a:srgbClr val="2A1A3D"/>
                          </a:solidFill>
                          <a:latin typeface="Calibri" pitchFamily="34" charset="0"/>
                          <a:ea typeface="Calibri" pitchFamily="34" charset="-122"/>
                          <a:cs typeface="Calibri" pitchFamily="34" charset="-120"/>
                        </a:rPr>
                        <a:t>Honest, live estimates</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4F1F9"/>
                    </a:solidFill>
                  </a:tcPr>
                </a:tc>
                <a:tc>
                  <a:txBody>
                    <a:bodyPr/>
                    <a:lstStyle/>
                    <a:p>
                      <a:pPr marL="0" indent="0">
                        <a:buNone/>
                      </a:pPr>
                      <a:r>
                        <a:rPr lang="en-US" sz="1600" dirty="0">
                          <a:solidFill>
                            <a:srgbClr val="2A1A3D"/>
                          </a:solidFill>
                          <a:latin typeface="Calibri" pitchFamily="34" charset="0"/>
                          <a:ea typeface="Calibri" pitchFamily="34" charset="-122"/>
                          <a:cs typeface="Calibri" pitchFamily="34" charset="-120"/>
                        </a:rPr>
                        <a:t>ETA range with proactive delay alerts and automatic credit</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4F1F9"/>
                    </a:solidFill>
                  </a:tcPr>
                </a:tc>
                <a:extLst>
                  <a:ext uri="{0D108BD9-81ED-4DB2-BD59-A6C34878D82A}">
                    <a16:rowId xmlns:a16="http://schemas.microsoft.com/office/drawing/2014/main" val="10002"/>
                  </a:ext>
                </a:extLst>
              </a:tr>
              <a:tr h="822960">
                <a:tc>
                  <a:txBody>
                    <a:bodyPr/>
                    <a:lstStyle/>
                    <a:p>
                      <a:pPr marL="0" indent="0">
                        <a:buNone/>
                      </a:pPr>
                      <a:r>
                        <a:rPr lang="en-US" sz="1600" b="1" dirty="0">
                          <a:solidFill>
                            <a:srgbClr val="2A1A3D"/>
                          </a:solidFill>
                          <a:latin typeface="Calibri" pitchFamily="34" charset="0"/>
                          <a:ea typeface="Calibri" pitchFamily="34" charset="-122"/>
                          <a:cs typeface="Calibri" pitchFamily="34" charset="-120"/>
                        </a:rPr>
                        <a:t>Wrong or missing items</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FFFFF"/>
                    </a:solidFill>
                  </a:tcPr>
                </a:tc>
                <a:tc>
                  <a:txBody>
                    <a:bodyPr/>
                    <a:lstStyle/>
                    <a:p>
                      <a:pPr marL="0" indent="0">
                        <a:buNone/>
                      </a:pPr>
                      <a:r>
                        <a:rPr lang="en-US" sz="1600" dirty="0">
                          <a:solidFill>
                            <a:srgbClr val="2A1A3D"/>
                          </a:solidFill>
                          <a:latin typeface="Calibri" pitchFamily="34" charset="0"/>
                          <a:ea typeface="Calibri" pitchFamily="34" charset="-122"/>
                          <a:cs typeface="Calibri" pitchFamily="34" charset="-120"/>
                        </a:rPr>
                        <a:t>Prevent errors, fix them fast</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FFFFF"/>
                    </a:solidFill>
                  </a:tcPr>
                </a:tc>
                <a:tc>
                  <a:txBody>
                    <a:bodyPr/>
                    <a:lstStyle/>
                    <a:p>
                      <a:pPr marL="0" indent="0">
                        <a:buNone/>
                      </a:pPr>
                      <a:r>
                        <a:rPr lang="en-US" sz="1600" dirty="0">
                          <a:solidFill>
                            <a:srgbClr val="2A1A3D"/>
                          </a:solidFill>
                          <a:latin typeface="Calibri" pitchFamily="34" charset="0"/>
                          <a:ea typeface="Calibri" pitchFamily="34" charset="-122"/>
                          <a:cs typeface="Calibri" pitchFamily="34" charset="-120"/>
                        </a:rPr>
                        <a:t>Packing checklist and handoff photo; one-tap item report</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22960">
                <a:tc>
                  <a:txBody>
                    <a:bodyPr/>
                    <a:lstStyle/>
                    <a:p>
                      <a:pPr marL="0" indent="0">
                        <a:buNone/>
                      </a:pPr>
                      <a:r>
                        <a:rPr lang="en-US" sz="1600" b="1" dirty="0">
                          <a:solidFill>
                            <a:srgbClr val="2A1A3D"/>
                          </a:solidFill>
                          <a:latin typeface="Calibri" pitchFamily="34" charset="0"/>
                          <a:ea typeface="Calibri" pitchFamily="34" charset="-122"/>
                          <a:cs typeface="Calibri" pitchFamily="34" charset="-120"/>
                        </a:rPr>
                        <a:t>Support loops, slow refunds</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4F1F9"/>
                    </a:solidFill>
                  </a:tcPr>
                </a:tc>
                <a:tc>
                  <a:txBody>
                    <a:bodyPr/>
                    <a:lstStyle/>
                    <a:p>
                      <a:pPr marL="0" indent="0">
                        <a:buNone/>
                      </a:pPr>
                      <a:r>
                        <a:rPr lang="en-US" sz="1600" dirty="0">
                          <a:solidFill>
                            <a:srgbClr val="2A1A3D"/>
                          </a:solidFill>
                          <a:latin typeface="Calibri" pitchFamily="34" charset="0"/>
                          <a:ea typeface="Calibri" pitchFamily="34" charset="-122"/>
                          <a:cs typeface="Calibri" pitchFamily="34" charset="-120"/>
                        </a:rPr>
                        <a:t>Resolve small issues instantly</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4F1F9"/>
                    </a:solidFill>
                  </a:tcPr>
                </a:tc>
                <a:tc>
                  <a:txBody>
                    <a:bodyPr/>
                    <a:lstStyle/>
                    <a:p>
                      <a:pPr marL="0" indent="0">
                        <a:buNone/>
                      </a:pPr>
                      <a:r>
                        <a:rPr lang="en-US" sz="1600" dirty="0">
                          <a:solidFill>
                            <a:srgbClr val="2A1A3D"/>
                          </a:solidFill>
                          <a:latin typeface="Calibri" pitchFamily="34" charset="0"/>
                          <a:ea typeface="Calibri" pitchFamily="34" charset="-122"/>
                          <a:cs typeface="Calibri" pitchFamily="34" charset="-120"/>
                        </a:rPr>
                        <a:t>Instant refunds on low-value issues; human chat in two taps</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4F1F9"/>
                    </a:solidFill>
                  </a:tcPr>
                </a:tc>
                <a:extLst>
                  <a:ext uri="{0D108BD9-81ED-4DB2-BD59-A6C34878D82A}">
                    <a16:rowId xmlns:a16="http://schemas.microsoft.com/office/drawing/2014/main" val="10004"/>
                  </a:ext>
                </a:extLst>
              </a:tr>
              <a:tr h="822960">
                <a:tc>
                  <a:txBody>
                    <a:bodyPr/>
                    <a:lstStyle/>
                    <a:p>
                      <a:pPr marL="0" indent="0">
                        <a:buNone/>
                      </a:pPr>
                      <a:r>
                        <a:rPr lang="en-US" sz="1600" b="1" dirty="0">
                          <a:solidFill>
                            <a:srgbClr val="2A1A3D"/>
                          </a:solidFill>
                          <a:latin typeface="Calibri" pitchFamily="34" charset="0"/>
                          <a:ea typeface="Calibri" pitchFamily="34" charset="-122"/>
                          <a:cs typeface="Calibri" pitchFamily="34" charset="-120"/>
                        </a:rPr>
                        <a:t>Endless scrolling</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FFFFF"/>
                    </a:solidFill>
                  </a:tcPr>
                </a:tc>
                <a:tc>
                  <a:txBody>
                    <a:bodyPr/>
                    <a:lstStyle/>
                    <a:p>
                      <a:pPr marL="0" indent="0">
                        <a:buNone/>
                      </a:pPr>
                      <a:r>
                        <a:rPr lang="en-US" sz="1600" dirty="0">
                          <a:solidFill>
                            <a:srgbClr val="2A1A3D"/>
                          </a:solidFill>
                          <a:latin typeface="Calibri" pitchFamily="34" charset="0"/>
                          <a:ea typeface="Calibri" pitchFamily="34" charset="-122"/>
                          <a:cs typeface="Calibri" pitchFamily="34" charset="-120"/>
                        </a:rPr>
                        <a:t>Cut decision effort</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FFFFF"/>
                    </a:solidFill>
                  </a:tcPr>
                </a:tc>
                <a:tc>
                  <a:txBody>
                    <a:bodyPr/>
                    <a:lstStyle/>
                    <a:p>
                      <a:pPr marL="0" indent="0">
                        <a:buNone/>
                      </a:pPr>
                      <a:r>
                        <a:rPr lang="en-US" sz="1600" dirty="0">
                          <a:solidFill>
                            <a:srgbClr val="2A1A3D"/>
                          </a:solidFill>
                          <a:latin typeface="Calibri" pitchFamily="34" charset="0"/>
                          <a:ea typeface="Calibri" pitchFamily="34" charset="-122"/>
                          <a:cs typeface="Calibri" pitchFamily="34" charset="-120"/>
                        </a:rPr>
                        <a:t>“Your usuals” home row, smart filters, one-tap reorder</a:t>
                      </a:r>
                      <a:endParaRPr lang="en-US" sz="1600" dirty="0">
                        <a:latin typeface="Calibri" charset="0"/>
                        <a:ea typeface="Calibri" charset="0"/>
                        <a:cs typeface="Calibri" charset="0"/>
                      </a:endParaRPr>
                    </a:p>
                  </a:txBody>
                  <a:tcPr anchor="ctr">
                    <a:lnL w="6350" cap="flat" cmpd="sng" algn="ctr">
                      <a:solidFill>
                        <a:srgbClr val="E4DDF0"/>
                      </a:solidFill>
                      <a:prstDash val="solid"/>
                      <a:round/>
                      <a:headEnd type="none" w="med" len="med"/>
                      <a:tailEnd type="none" w="med" len="med"/>
                    </a:lnL>
                    <a:lnR w="6350" cap="flat" cmpd="sng" algn="ctr">
                      <a:solidFill>
                        <a:srgbClr val="E4DDF0"/>
                      </a:solidFill>
                      <a:prstDash val="solid"/>
                      <a:round/>
                      <a:headEnd type="none" w="med" len="med"/>
                      <a:tailEnd type="none" w="med" len="med"/>
                    </a:lnR>
                    <a:lnT w="6350" cap="flat" cmpd="sng" algn="ctr">
                      <a:solidFill>
                        <a:srgbClr val="E4DDF0"/>
                      </a:solidFill>
                      <a:prstDash val="solid"/>
                      <a:round/>
                      <a:headEnd type="none" w="med" len="med"/>
                      <a:tailEnd type="none" w="med" len="med"/>
                    </a:lnT>
                    <a:lnB w="6350" cap="flat" cmpd="sng" algn="ctr">
                      <a:solidFill>
                        <a:srgbClr val="E4DD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1A3D"/>
        </a:solidFill>
        <a:effectLst/>
      </p:bgPr>
    </p:bg>
    <p:spTree>
      <p:nvGrpSpPr>
        <p:cNvPr id="1" name=""/>
        <p:cNvGrpSpPr/>
        <p:nvPr/>
      </p:nvGrpSpPr>
      <p:grpSpPr>
        <a:xfrm>
          <a:off x="0" y="0"/>
          <a:ext cx="0" cy="0"/>
          <a:chOff x="0" y="0"/>
          <a:chExt cx="0" cy="0"/>
        </a:xfrm>
      </p:grpSpPr>
      <p:sp>
        <p:nvSpPr>
          <p:cNvPr id="2" name="Text 0"/>
          <p:cNvSpPr txBox="1"/>
          <p:nvPr/>
        </p:nvSpPr>
        <p:spPr>
          <a:xfrm>
            <a:off x="731520" y="1188720"/>
            <a:ext cx="5486400" cy="365760"/>
          </a:xfrm>
          <a:prstGeom prst="rect">
            <a:avLst/>
          </a:prstGeom>
          <a:noFill/>
          <a:ln/>
        </p:spPr>
        <p:txBody>
          <a:bodyPr wrap="square" lIns="0" tIns="0" rIns="0" bIns="0" rtlCol="0" anchor="ctr"/>
          <a:lstStyle/>
          <a:p>
            <a:pPr marL="0" indent="0">
              <a:buNone/>
            </a:pPr>
            <a:r>
              <a:rPr lang="en-US" sz="1300" b="1" kern="0" spc="400" dirty="0">
                <a:solidFill>
                  <a:srgbClr val="FF8A6B"/>
                </a:solidFill>
                <a:latin typeface="Calibri" pitchFamily="34" charset="0"/>
                <a:ea typeface="Calibri" pitchFamily="34" charset="-122"/>
                <a:cs typeface="Calibri" pitchFamily="34" charset="-120"/>
              </a:rPr>
              <a:t>KEY TAKEAWAY</a:t>
            </a:r>
            <a:endParaRPr lang="en-US" sz="1300" dirty="0"/>
          </a:p>
        </p:txBody>
      </p:sp>
      <p:sp>
        <p:nvSpPr>
          <p:cNvPr id="3" name="Text 1"/>
          <p:cNvSpPr txBox="1"/>
          <p:nvPr/>
        </p:nvSpPr>
        <p:spPr>
          <a:xfrm>
            <a:off x="731520" y="1691640"/>
            <a:ext cx="6035040" cy="228600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Riya doesn’t want more features. She wants certainty.</a:t>
            </a:r>
            <a:endParaRPr lang="en-US" sz="4000" dirty="0"/>
          </a:p>
        </p:txBody>
      </p:sp>
      <p:sp>
        <p:nvSpPr>
          <p:cNvPr id="4" name="Text 2"/>
          <p:cNvSpPr txBox="1"/>
          <p:nvPr/>
        </p:nvSpPr>
        <p:spPr>
          <a:xfrm>
            <a:off x="731520" y="4206240"/>
            <a:ext cx="5852160" cy="914400"/>
          </a:xfrm>
          <a:prstGeom prst="rect">
            <a:avLst/>
          </a:prstGeom>
          <a:noFill/>
          <a:ln/>
        </p:spPr>
        <p:txBody>
          <a:bodyPr wrap="square" lIns="0" tIns="0" rIns="0" bIns="0" rtlCol="0" anchor="t"/>
          <a:lstStyle/>
          <a:p>
            <a:pPr marL="0" indent="0">
              <a:buNone/>
            </a:pPr>
            <a:r>
              <a:rPr lang="en-US" sz="1800" dirty="0">
                <a:solidFill>
                  <a:srgbClr val="D9CFEA"/>
                </a:solidFill>
                <a:latin typeface="Calibri" pitchFamily="34" charset="0"/>
                <a:ea typeface="Calibri" pitchFamily="34" charset="-122"/>
                <a:cs typeface="Calibri" pitchFamily="34" charset="-120"/>
              </a:rPr>
              <a:t>Design for trust: honest prices, honest ETAs, and fast fixes when things go wrong.</a:t>
            </a:r>
            <a:endParaRPr lang="en-US" sz="1800" dirty="0"/>
          </a:p>
        </p:txBody>
      </p:sp>
      <p:sp>
        <p:nvSpPr>
          <p:cNvPr id="5" name="Shape 3"/>
          <p:cNvSpPr/>
          <p:nvPr/>
        </p:nvSpPr>
        <p:spPr>
          <a:xfrm>
            <a:off x="7315200" y="1097280"/>
            <a:ext cx="4325112" cy="4663440"/>
          </a:xfrm>
          <a:prstGeom prst="roundRect">
            <a:avLst>
              <a:gd name="adj" fmla="val 17606"/>
            </a:avLst>
          </a:prstGeom>
          <a:solidFill>
            <a:srgbClr val="3B2754"/>
          </a:solidFill>
          <a:ln w="6350">
            <a:solidFill>
              <a:srgbClr val="3B2754"/>
            </a:solidFill>
            <a:prstDash val="solid"/>
          </a:ln>
        </p:spPr>
      </p:sp>
      <p:sp>
        <p:nvSpPr>
          <p:cNvPr id="6" name="Text 4"/>
          <p:cNvSpPr txBox="1"/>
          <p:nvPr/>
        </p:nvSpPr>
        <p:spPr>
          <a:xfrm>
            <a:off x="7680960" y="1371600"/>
            <a:ext cx="365760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Next steps</a:t>
            </a:r>
            <a:endParaRPr lang="en-US" sz="2400" dirty="0"/>
          </a:p>
        </p:txBody>
      </p:sp>
      <p:sp>
        <p:nvSpPr>
          <p:cNvPr id="7" name="Shape 5"/>
          <p:cNvSpPr/>
          <p:nvPr/>
        </p:nvSpPr>
        <p:spPr>
          <a:xfrm>
            <a:off x="7680960" y="2148840"/>
            <a:ext cx="502920" cy="502920"/>
          </a:xfrm>
          <a:prstGeom prst="ellipse">
            <a:avLst/>
          </a:prstGeom>
          <a:solidFill>
            <a:srgbClr val="E23B1F"/>
          </a:solidFill>
          <a:ln w="6350">
            <a:solidFill>
              <a:srgbClr val="E23B1F"/>
            </a:solidFill>
            <a:prstDash val="solid"/>
          </a:ln>
        </p:spPr>
      </p:sp>
      <p:sp>
        <p:nvSpPr>
          <p:cNvPr id="8" name="Text 6"/>
          <p:cNvSpPr txBox="1"/>
          <p:nvPr/>
        </p:nvSpPr>
        <p:spPr>
          <a:xfrm>
            <a:off x="7680960" y="21488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txBox="1"/>
          <p:nvPr/>
        </p:nvSpPr>
        <p:spPr>
          <a:xfrm>
            <a:off x="8366760" y="2057400"/>
            <a:ext cx="3017520" cy="6858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Validate the map with 5–8 user interviews</a:t>
            </a:r>
            <a:endParaRPr lang="en-US" sz="1600" dirty="0"/>
          </a:p>
        </p:txBody>
      </p:sp>
      <p:sp>
        <p:nvSpPr>
          <p:cNvPr id="10" name="Shape 8"/>
          <p:cNvSpPr/>
          <p:nvPr/>
        </p:nvSpPr>
        <p:spPr>
          <a:xfrm>
            <a:off x="7680960" y="3017520"/>
            <a:ext cx="502920" cy="502920"/>
          </a:xfrm>
          <a:prstGeom prst="ellipse">
            <a:avLst/>
          </a:prstGeom>
          <a:solidFill>
            <a:srgbClr val="E23B1F"/>
          </a:solidFill>
          <a:ln w="6350">
            <a:solidFill>
              <a:srgbClr val="E23B1F"/>
            </a:solidFill>
            <a:prstDash val="solid"/>
          </a:ln>
        </p:spPr>
      </p:sp>
      <p:sp>
        <p:nvSpPr>
          <p:cNvPr id="11" name="Text 9"/>
          <p:cNvSpPr txBox="1"/>
          <p:nvPr/>
        </p:nvSpPr>
        <p:spPr>
          <a:xfrm>
            <a:off x="7680960" y="301752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8366760" y="2926080"/>
            <a:ext cx="3017520" cy="6858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Size the top pains in a short survey</a:t>
            </a:r>
            <a:endParaRPr lang="en-US" sz="1600" dirty="0"/>
          </a:p>
        </p:txBody>
      </p:sp>
      <p:sp>
        <p:nvSpPr>
          <p:cNvPr id="13" name="Shape 11"/>
          <p:cNvSpPr/>
          <p:nvPr/>
        </p:nvSpPr>
        <p:spPr>
          <a:xfrm>
            <a:off x="7680960" y="3886200"/>
            <a:ext cx="502920" cy="502920"/>
          </a:xfrm>
          <a:prstGeom prst="ellipse">
            <a:avLst/>
          </a:prstGeom>
          <a:solidFill>
            <a:srgbClr val="E23B1F"/>
          </a:solidFill>
          <a:ln w="6350">
            <a:solidFill>
              <a:srgbClr val="E23B1F"/>
            </a:solidFill>
            <a:prstDash val="solid"/>
          </a:ln>
        </p:spPr>
      </p:sp>
      <p:sp>
        <p:nvSpPr>
          <p:cNvPr id="14" name="Text 12"/>
          <p:cNvSpPr txBox="1"/>
          <p:nvPr/>
        </p:nvSpPr>
        <p:spPr>
          <a:xfrm>
            <a:off x="7680960" y="38862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8366760" y="3794760"/>
            <a:ext cx="3017520" cy="6858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Prototype and usability-test price and ETA fixes</a:t>
            </a:r>
            <a:endParaRPr lang="en-US" sz="1600" dirty="0"/>
          </a:p>
        </p:txBody>
      </p:sp>
      <p:sp>
        <p:nvSpPr>
          <p:cNvPr id="16" name="Shape 14"/>
          <p:cNvSpPr/>
          <p:nvPr/>
        </p:nvSpPr>
        <p:spPr>
          <a:xfrm>
            <a:off x="7680960" y="4754880"/>
            <a:ext cx="502920" cy="502920"/>
          </a:xfrm>
          <a:prstGeom prst="ellipse">
            <a:avLst/>
          </a:prstGeom>
          <a:solidFill>
            <a:srgbClr val="E23B1F"/>
          </a:solidFill>
          <a:ln w="6350">
            <a:solidFill>
              <a:srgbClr val="E23B1F"/>
            </a:solidFill>
            <a:prstDash val="solid"/>
          </a:ln>
        </p:spPr>
      </p:sp>
      <p:sp>
        <p:nvSpPr>
          <p:cNvPr id="17" name="Text 15"/>
          <p:cNvSpPr txBox="1"/>
          <p:nvPr/>
        </p:nvSpPr>
        <p:spPr>
          <a:xfrm>
            <a:off x="7680960" y="47548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txBox="1"/>
          <p:nvPr/>
        </p:nvSpPr>
        <p:spPr>
          <a:xfrm>
            <a:off x="8366760" y="4663440"/>
            <a:ext cx="3017520" cy="68580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Revisit the map after each release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1312</Words>
  <Application>Microsoft Office PowerPoint</Application>
  <PresentationFormat>Widescreen</PresentationFormat>
  <Paragraphs>192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Empathy Map: Food Delivery App User (Toing)</dc:title>
  <dc:subject>PptxGenJS Presentation</dc:subject>
  <dc:creator>PptxGenJS</dc:creator>
  <cp:lastModifiedBy>mohan r</cp:lastModifiedBy>
  <cp:revision>4</cp:revision>
  <dcterms:created xsi:type="dcterms:W3CDTF">2026-09-20T03:57:04Z</dcterms:created>
  <dcterms:modified xsi:type="dcterms:W3CDTF">2026-09-20T07:33:53Z</dcterms:modified>
</cp:coreProperties>
</file>